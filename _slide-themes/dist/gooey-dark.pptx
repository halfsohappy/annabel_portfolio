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pic>
        <p:nvPicPr>
          <p:cNvPr id="8" name="Image 0" descr="/home/user/Annabel_Portfolio/_slide-themes/.cache/assets/gooey_welco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60120"/>
            <a:ext cx="694944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960120"/>
            <a:ext cx="6949440" cy="2926080"/>
          </a:xfrm>
          <a:prstGeom prst="roundRect">
            <a:avLst>
              <a:gd name="adj" fmla="val 3750"/>
            </a:avLst>
          </a:prstGeom>
          <a:ln w="19050">
            <a:solidFill>
              <a:srgbClr val="4E3D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1463040" y="1143000"/>
            <a:ext cx="621792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gooey</a:t>
            </a:r>
            <a:endParaRPr lang="en-US" sz="48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463040" y="2468880"/>
            <a:ext cx="62179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this deck is about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463040" y="3154680"/>
            <a:ext cx="29260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1463040" y="3154680"/>
            <a:ext cx="29260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Presenter · date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rgbClr val="2F2A40"/>
            </a:solidFill>
            <a:prstDash val="solid"/>
          </a:ln>
        </p:spPr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messages</a:t>
            </a:r>
            <a:endParaRPr lang="en-US" sz="9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475488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msg/s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F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73152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/</a:t>
            </a:r>
            <a:endParaRPr lang="en-US" sz="16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731520" y="2880360"/>
            <a:ext cx="1280160" cy="320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731520" y="31546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 in this part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720840" y="685800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876288" y="800100"/>
            <a:ext cx="91440" cy="91440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7040880" y="685800"/>
            <a:ext cx="1463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02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solidFill>
          <a:srgbClr val="1B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8321040" cy="4114800"/>
          </a:xfrm>
          <a:prstGeom prst="roundRect">
            <a:avLst>
              <a:gd name="adj" fmla="val 1111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ph idx="109" type="title" hasCustomPrompt="1"/>
          </p:nvPr>
        </p:nvSpPr>
        <p:spPr>
          <a:xfrm>
            <a:off x="68580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Card heading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85800" y="1389888"/>
            <a:ext cx="777240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85800" y="1600200"/>
            <a:ext cx="777240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Body text in Martian Mono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ols + live feed">
    <p:bg>
      <p:bgPr>
        <a:solidFill>
          <a:srgbClr val="12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685800"/>
            <a:ext cx="45262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you do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11480" y="1252728"/>
            <a:ext cx="452628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411480" y="1463040"/>
            <a:ext cx="45262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and explanation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66360" y="457200"/>
            <a:ext cx="3977640" cy="46863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9"/>
          <p:cNvSpPr/>
          <p:nvPr/>
        </p:nvSpPr>
        <p:spPr>
          <a:xfrm>
            <a:off x="5166360" y="457200"/>
            <a:ext cx="0" cy="4686300"/>
          </a:xfrm>
          <a:prstGeom prst="line">
            <a:avLst/>
          </a:prstGeom>
          <a:noFill/>
          <a:ln w="19050">
            <a:solidFill>
              <a:srgbClr val="2F2A40"/>
            </a:solidFill>
            <a:prstDash val="solid"/>
          </a:ln>
        </p:spPr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5367528" y="566928"/>
            <a:ext cx="2377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166360" y="1051560"/>
            <a:ext cx="3977640" cy="0"/>
          </a:xfrm>
          <a:prstGeom prst="line">
            <a:avLst/>
          </a:prstGeom>
          <a:noFill/>
          <a:ln w="12700">
            <a:solidFill>
              <a:srgbClr val="2F2A40"/>
            </a:solidFill>
            <a:prstDash val="solid"/>
          </a:ln>
        </p:spPr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5367528" y="1170432"/>
            <a:ext cx="361188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timestamp  RECV  /address (value)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166360" y="4846320"/>
            <a:ext cx="3977640" cy="0"/>
          </a:xfrm>
          <a:prstGeom prst="line">
            <a:avLst/>
          </a:prstGeom>
          <a:noFill/>
          <a:ln w="12700">
            <a:solidFill>
              <a:srgbClr val="2F2A40"/>
            </a:solidFill>
            <a:prstDash val="solid"/>
          </a:ln>
        </p:spPr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5367528" y="4882896"/>
            <a:ext cx="3611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messages · 0 msg/s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ards">
    <p:bg>
      <p:bgPr>
        <a:solidFill>
          <a:srgbClr val="1B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Compare two things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11480" y="1234440"/>
            <a:ext cx="4069080" cy="3611880"/>
          </a:xfrm>
          <a:prstGeom prst="roundRect">
            <a:avLst>
              <a:gd name="adj" fmla="val 1266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640080" y="1298448"/>
            <a:ext cx="3611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Before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1865376"/>
            <a:ext cx="361188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640080" y="2011680"/>
            <a:ext cx="361188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640080" y="2286000"/>
            <a:ext cx="3611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663440" y="1234440"/>
            <a:ext cx="4069080" cy="3611880"/>
          </a:xfrm>
          <a:prstGeom prst="roundRect">
            <a:avLst>
              <a:gd name="adj" fmla="val 1266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892040" y="1298448"/>
            <a:ext cx="3611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After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4892040" y="1865376"/>
            <a:ext cx="361188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4892040" y="2011680"/>
            <a:ext cx="361188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4892040" y="2286000"/>
            <a:ext cx="3611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ck actions (3 stats)">
    <p:bg>
      <p:bgPr>
        <a:solidFill>
          <a:srgbClr val="1B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1148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880360" y="148132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64008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15" name="Shape 9"/>
          <p:cNvSpPr/>
          <p:nvPr/>
        </p:nvSpPr>
        <p:spPr>
          <a:xfrm>
            <a:off x="640080" y="2788920"/>
            <a:ext cx="228600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64008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20040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5669280" y="1481328"/>
            <a:ext cx="100584" cy="100584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76200" dist="50800" dir="5400000">
              <a:srgbClr val="DAA415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342900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0" name="Text 12"/>
          <p:cNvSpPr/>
          <p:nvPr>
            <p:ph idx="118" type="body" hasCustomPrompt="1"/>
          </p:nvPr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21" name="Shape 12"/>
          <p:cNvSpPr/>
          <p:nvPr/>
        </p:nvSpPr>
        <p:spPr>
          <a:xfrm>
            <a:off x="3429000" y="2788920"/>
            <a:ext cx="228600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22" name="Text 13"/>
          <p:cNvSpPr/>
          <p:nvPr>
            <p:ph idx="120" type="body" hasCustomPrompt="1"/>
          </p:nvPr>
        </p:nvSpPr>
        <p:spPr>
          <a:xfrm>
            <a:off x="342900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3" name="Text 13"/>
          <p:cNvSpPr/>
          <p:nvPr/>
        </p:nvSpPr>
        <p:spPr>
          <a:xfrm>
            <a:off x="598932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4" name="Text 14"/>
          <p:cNvSpPr/>
          <p:nvPr/>
        </p:nvSpPr>
        <p:spPr>
          <a:xfrm>
            <a:off x="8458200" y="1481328"/>
            <a:ext cx="100584" cy="10058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76200" dist="50800" dir="5400000">
              <a:srgbClr val="DC8B8B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>
            <p:ph idx="123" type="body" hasCustomPrompt="1"/>
          </p:nvPr>
        </p:nvSpPr>
        <p:spPr>
          <a:xfrm>
            <a:off x="621792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6" name="Text 15"/>
          <p:cNvSpPr/>
          <p:nvPr>
            <p:ph idx="124" type="body" hasCustomPrompt="1"/>
          </p:nvPr>
        </p:nvSpPr>
        <p:spPr>
          <a:xfrm>
            <a:off x="621792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27" name="Shape 15"/>
          <p:cNvSpPr/>
          <p:nvPr/>
        </p:nvSpPr>
        <p:spPr>
          <a:xfrm>
            <a:off x="6217920" y="2788920"/>
            <a:ext cx="228600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28" name="Text 16"/>
          <p:cNvSpPr/>
          <p:nvPr>
            <p:ph idx="126" type="body" hasCustomPrompt="1"/>
          </p:nvPr>
        </p:nvSpPr>
        <p:spPr>
          <a:xfrm>
            <a:off x="621792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console">
    <p:bg>
      <p:bgPr>
        <a:solidFill>
          <a:srgbClr val="12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8321040" cy="4114800"/>
          </a:xfrm>
          <a:prstGeom prst="roundRect">
            <a:avLst>
              <a:gd name="adj" fmla="val 1111"/>
            </a:avLst>
          </a:prstGeom>
          <a:solidFill>
            <a:srgbClr val="0F0F0F"/>
          </a:solidFill>
          <a:ln w="19050">
            <a:solidFill>
              <a:srgbClr val="2A2A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11480" y="731520"/>
            <a:ext cx="83210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640080" y="749808"/>
            <a:ext cx="54864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Script console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66760" y="909828"/>
            <a:ext cx="100584" cy="100584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50800" dir="5400000">
              <a:srgbClr val="4CAF5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685800" y="1371600"/>
            <a:ext cx="77724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device.msg("accelX").enable()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card">
    <p:bg>
      <p:bgPr>
        <a:solidFill>
          <a:srgbClr val="1B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2F2A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ph idx="109" hasCustomPrompt="1"/>
          </p:nvPr>
        </p:nvSpPr>
        <p:spPr>
          <a:xfrm>
            <a:off x="411480" y="731520"/>
            <a:ext cx="4572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 or screenshot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212080" y="731520"/>
            <a:ext cx="3520440" cy="4114800"/>
          </a:xfrm>
          <a:prstGeom prst="roundRect">
            <a:avLst>
              <a:gd name="adj" fmla="val 1299"/>
            </a:avLst>
          </a:prstGeom>
          <a:solidFill>
            <a:schemeClr val="bg1"/>
          </a:solidFill>
          <a:ln w="19050">
            <a:solidFill>
              <a:srgbClr val="2F2A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title" hasCustomPrompt="1"/>
          </p:nvPr>
        </p:nvSpPr>
        <p:spPr>
          <a:xfrm>
            <a:off x="5440680" y="822960"/>
            <a:ext cx="3108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440680" y="1389888"/>
            <a:ext cx="3108960" cy="0"/>
          </a:xfrm>
          <a:prstGeom prst="line">
            <a:avLst/>
          </a:prstGeom>
          <a:noFill/>
          <a:ln w="12700">
            <a:solidFill>
              <a:srgbClr val="3F3243"/>
            </a:solidFill>
            <a:prstDash val="solid"/>
          </a:ln>
        </p:spPr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5440680" y="1874520"/>
            <a:ext cx="310896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steps">
    <p:bg>
      <p:bgPr>
        <a:solidFill>
          <a:srgbClr val="12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pic>
        <p:nvPicPr>
          <p:cNvPr id="10" name="Image 0" descr="/home/user/Annabel_Portfolio/_slide-themes/.cache/assets/gooey_welcome_wid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31520"/>
            <a:ext cx="8321040" cy="4069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731520"/>
            <a:ext cx="8321040" cy="4069080"/>
          </a:xfrm>
          <a:prstGeom prst="roundRect">
            <a:avLst>
              <a:gd name="adj" fmla="val 2697"/>
            </a:avLst>
          </a:prstGeom>
          <a:ln w="19050">
            <a:solidFill>
              <a:srgbClr val="4E3D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title" hasCustomPrompt="1"/>
          </p:nvPr>
        </p:nvSpPr>
        <p:spPr>
          <a:xfrm>
            <a:off x="777240" y="960120"/>
            <a:ext cx="7589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Welcome to …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77240" y="183794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1280160" y="178308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1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77240" y="247802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1280160" y="242316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777240" y="3118104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1"/>
          <p:cNvSpPr/>
          <p:nvPr>
            <p:ph idx="116" type="body" hasCustomPrompt="1"/>
          </p:nvPr>
        </p:nvSpPr>
        <p:spPr>
          <a:xfrm>
            <a:off x="1280160" y="306324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777240" y="3931920"/>
            <a:ext cx="237744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50800" dist="12700" dir="540000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>
            <p:ph idx="118" type="body" hasCustomPrompt="1"/>
          </p:nvPr>
        </p:nvSpPr>
        <p:spPr>
          <a:xfrm>
            <a:off x="777240" y="3931920"/>
            <a:ext cx="237744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Take a tour!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2F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822960" y="1005840"/>
            <a:ext cx="7498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strong sentence.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1280160" cy="320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822960" y="3703320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source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1B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out (closing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3749040" y="3474720"/>
            <a:ext cx="1645920" cy="365760"/>
          </a:xfrm>
          <a:prstGeom prst="roundRect">
            <a:avLst>
              <a:gd name="adj" fmla="val 12500"/>
            </a:avLst>
          </a:prstGeom>
          <a:ln w="19050">
            <a:solidFill>
              <a:srgbClr val="5A5A5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74904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Restore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12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F2A4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4A4362">
              <a:alpha val="6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81B921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1463040" y="1143000"/>
            <a:ext cx="621792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gooey</a:t>
            </a:r>
            <a:endParaRPr lang="en-US" sz="4800" dirty="0"/>
          </a:p>
        </p:txBody>
      </p:sp>
      <p:sp>
        <p:nvSpPr>
          <p:cNvPr id="3" name="Text 7"/>
          <p:cNvSpPr/>
          <p:nvPr>
            <p:ph idx="109" type="body" hasCustomPrompt="1"/>
          </p:nvPr>
        </p:nvSpPr>
        <p:spPr>
          <a:xfrm>
            <a:off x="146304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annieData control center for TheaterGWD</a:t>
            </a:r>
            <a:endParaRPr lang="en-US" sz="15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146304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Tech week · Oct 2026</a:t>
            </a:r>
            <a:endParaRPr lang="en-US" sz="1100" dirty="0"/>
          </a:p>
        </p:txBody>
      </p:sp>
      <p:sp>
        <p:nvSpPr>
          <p:cNvPr id="5" name="Text 9"/>
          <p:cNvSpPr/>
          <p:nvPr>
            <p:ph idx="113" type="body" hasCustomPrompt="1"/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 devices · 24 messages · 6 scenes</a:t>
            </a:r>
            <a:endParaRPr lang="en-US" sz="900" dirty="0"/>
          </a:p>
        </p:txBody>
      </p:sp>
      <p:sp>
        <p:nvSpPr>
          <p:cNvPr id="6" name="Text 9"/>
          <p:cNvSpPr/>
          <p:nvPr>
            <p:ph idx="114" type="body" hasCustomPrompt="1"/>
          </p:nvPr>
        </p:nvSpPr>
        <p:spPr>
          <a:xfrm>
            <a:off x="475488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listening on :9000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73152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/</a:t>
            </a:r>
            <a:endParaRPr lang="en-US" sz="16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Messages &amp; Scenes</a:t>
            </a:r>
            <a:endParaRPr lang="en-US" sz="40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31520" y="3154680"/>
            <a:ext cx="6400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How a sensor reading becomes a lighting cue.</a:t>
            </a:r>
            <a:endParaRPr lang="en-US" sz="1300" dirty="0"/>
          </a:p>
        </p:txBody>
      </p:sp>
      <p:sp>
        <p:nvSpPr>
          <p:cNvPr id="5" name="Text 7"/>
          <p:cNvSpPr/>
          <p:nvPr>
            <p:ph idx="110" type="body" hasCustomPrompt="1"/>
          </p:nvPr>
        </p:nvSpPr>
        <p:spPr>
          <a:xfrm>
            <a:off x="7040880" y="685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8"/>
          <p:cNvSpPr/>
          <p:nvPr>
            <p:ph idx="109" type="title" hasCustomPrompt="1"/>
          </p:nvPr>
        </p:nvSpPr>
        <p:spPr>
          <a:xfrm>
            <a:off x="68580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Why rebuild annieOSC?</a:t>
            </a:r>
            <a:endParaRPr lang="en-US" sz="22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685800" y="1600200"/>
            <a:ext cx="777240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Config payloads now travel as one argument, not split on spaces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reply feed is always visible instead of buried under a tab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Every TheaterGWD command has a form: clone, rename, move, solo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Built for theater operators, not as a generic OSC tool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Layout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685800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Send, then see</a:t>
            </a:r>
            <a:endParaRPr lang="en-US" sz="22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411480" y="1463040"/>
            <a:ext cx="45262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on the left: messages, scenes, direct sends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Replies stream in on the right as they happen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Operators confirm a cue without switching tabs</a:t>
            </a:r>
            <a:endParaRPr lang="en-US" sz="13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5367528" y="566928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5367528" y="1170432"/>
            <a:ext cx="361188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19:57:30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/gyro/x 0.0206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19:57:31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7A84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SEND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/scene/act2/start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19:57:31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/status act2 run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19:57:32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D4A4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BRDG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/qlab/go 14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19:57:33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/accel/y -0.002</a:t>
            </a:r>
            <a:endParaRPr lang="en-US" sz="1000" dirty="0"/>
          </a:p>
        </p:txBody>
      </p:sp>
      <p:sp>
        <p:nvSpPr>
          <p:cNvPr id="7" name="Text 12"/>
          <p:cNvSpPr/>
          <p:nvPr>
            <p:ph idx="117" type="body" hasCustomPrompt="1"/>
          </p:nvPr>
        </p:nvSpPr>
        <p:spPr>
          <a:xfrm>
            <a:off x="5367528" y="4882896"/>
            <a:ext cx="36118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8C9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5 messages · 2.1 msg/s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From generic tool to control center</a:t>
            </a:r>
            <a:endParaRPr lang="en-US" sz="24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640080" y="1298448"/>
            <a:ext cx="3611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annieOSC</a:t>
            </a:r>
            <a:endParaRPr lang="en-US" sz="17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640080" y="2011680"/>
            <a:ext cx="3611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64008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Tabs hide the feed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Status config sends nothing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Clone &amp; rename by hand</a:t>
            </a:r>
            <a:endParaRPr lang="en-US" sz="12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892040" y="1298448"/>
            <a:ext cx="3611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gooey</a:t>
            </a:r>
            <a:endParaRPr lang="en-US" sz="1700" dirty="0"/>
          </a:p>
        </p:txBody>
      </p:sp>
      <p:sp>
        <p:nvSpPr>
          <p:cNvPr id="8" name="Text 11"/>
          <p:cNvSpPr/>
          <p:nvPr>
            <p:ph idx="117" type="body" hasCustomPrompt="1"/>
          </p:nvPr>
        </p:nvSpPr>
        <p:spPr>
          <a:xfrm>
            <a:off x="4892040" y="2011680"/>
            <a:ext cx="3611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AFTER</a:t>
            </a:r>
            <a:endParaRPr lang="en-US" sz="900" dirty="0"/>
          </a:p>
        </p:txBody>
      </p:sp>
      <p:sp>
        <p:nvSpPr>
          <p:cNvPr id="9" name="Text 11"/>
          <p:cNvSpPr/>
          <p:nvPr>
            <p:ph idx="118" type="body" hasCustomPrompt="1"/>
          </p:nvPr>
        </p:nvSpPr>
        <p:spPr>
          <a:xfrm>
            <a:off x="489204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Split panel, feed always on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Proper status config form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Dedicated clone/rename forms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One show, at a glance</a:t>
            </a:r>
            <a:endParaRPr lang="en-US" sz="24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6400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LISTEN PORT</a:t>
            </a:r>
            <a:endParaRPr lang="en-US" sz="9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64008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9000</a:t>
            </a:r>
            <a:endParaRPr lang="en-US" sz="3600" dirty="0"/>
          </a:p>
        </p:txBody>
      </p:sp>
      <p:sp>
        <p:nvSpPr>
          <p:cNvPr id="6" name="Text 10"/>
          <p:cNvSpPr/>
          <p:nvPr>
            <p:ph idx="114" type="body" hasCustomPrompt="1"/>
          </p:nvPr>
        </p:nvSpPr>
        <p:spPr>
          <a:xfrm>
            <a:off x="64008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Where devices send their replies</a:t>
            </a:r>
            <a:endParaRPr lang="en-US" sz="1100" dirty="0"/>
          </a:p>
        </p:txBody>
      </p:sp>
      <p:sp>
        <p:nvSpPr>
          <p:cNvPr id="7" name="Text 12"/>
          <p:cNvSpPr/>
          <p:nvPr>
            <p:ph idx="117" type="body" hasCustomPrompt="1"/>
          </p:nvPr>
        </p:nvSpPr>
        <p:spPr>
          <a:xfrm>
            <a:off x="342900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DEVICES</a:t>
            </a:r>
            <a:endParaRPr lang="en-US" sz="900" dirty="0"/>
          </a:p>
        </p:txBody>
      </p:sp>
      <p:sp>
        <p:nvSpPr>
          <p:cNvPr id="8" name="Text 12"/>
          <p:cNvSpPr/>
          <p:nvPr>
            <p:ph idx="118" type="body" hasCustomPrompt="1"/>
          </p:nvPr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13"/>
          <p:cNvSpPr/>
          <p:nvPr>
            <p:ph idx="120" type="body" hasCustomPrompt="1"/>
          </p:nvPr>
        </p:nvSpPr>
        <p:spPr>
          <a:xfrm>
            <a:off x="342900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Costume packs on the show network</a:t>
            </a:r>
            <a:endParaRPr lang="en-US" sz="1100" dirty="0"/>
          </a:p>
        </p:txBody>
      </p:sp>
      <p:sp>
        <p:nvSpPr>
          <p:cNvPr id="10" name="Text 15"/>
          <p:cNvSpPr/>
          <p:nvPr>
            <p:ph idx="123" type="body" hasCustomPrompt="1"/>
          </p:nvPr>
        </p:nvSpPr>
        <p:spPr>
          <a:xfrm>
            <a:off x="621792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SCENES</a:t>
            </a:r>
            <a:endParaRPr lang="en-US" sz="900" dirty="0"/>
          </a:p>
        </p:txBody>
      </p:sp>
      <p:sp>
        <p:nvSpPr>
          <p:cNvPr id="11" name="Text 15"/>
          <p:cNvSpPr/>
          <p:nvPr>
            <p:ph idx="124" type="body" hasCustomPrompt="1"/>
          </p:nvPr>
        </p:nvSpPr>
        <p:spPr>
          <a:xfrm>
            <a:off x="62179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6"/>
          <p:cNvSpPr/>
          <p:nvPr>
            <p:ph idx="126" type="body" hasCustomPrompt="1"/>
          </p:nvPr>
        </p:nvSpPr>
        <p:spPr>
          <a:xfrm>
            <a:off x="621792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Grouped messages, started per cue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Scripting</a:t>
            </a:r>
            <a:endParaRPr lang="en-US" sz="10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640080" y="749808"/>
            <a:ext cx="54864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Script console</a:t>
            </a:r>
            <a:endParaRPr lang="en-US" sz="1500" dirty="0"/>
          </a:p>
        </p:txBody>
      </p:sp>
      <p:sp>
        <p:nvSpPr>
          <p:cNvPr id="4" name="Text 10"/>
          <p:cNvSpPr/>
          <p:nvPr>
            <p:ph idx="112" type="body" hasCustomPrompt="1"/>
          </p:nvPr>
        </p:nvSpPr>
        <p:spPr>
          <a:xfrm>
            <a:off x="685800" y="1371600"/>
            <a:ext cx="777240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 = device("costume-1")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dev.msg("accelX").enable()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 /status/accelX enabled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dev.scene("act2").start()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 /status/scene act2 running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scenes()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{'act2': {'period': 50, ...}}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 the room</a:t>
            </a:r>
            <a:endParaRPr lang="en-US" sz="1000" dirty="0"/>
          </a:p>
        </p:txBody>
      </p:sp>
      <p:pic>
        <p:nvPicPr>
          <p:cNvPr id="3" name="Image 0" descr="/home/user/Annabel_Portfolio/_slide-themes/.cache/photos/gooey.jpg">    </p:cNvPr>
          <p:cNvPicPr>
            <a:picLocks noChangeAspect="1"/>
          </p:cNvPicPr>
          <p:nvPr>
            <p:ph idx="109" hasCustomPrompt="1"/>
          </p:nvPr>
        </p:nvPicPr>
        <p:blipFill>
          <a:blip r:embed="rId1"/>
          <a:srcRect l="0" r="0" t="0" b="0"/>
          <a:stretch/>
        </p:blipFill>
        <p:spPr>
          <a:xfrm>
            <a:off x="411480" y="731520"/>
            <a:ext cx="4572000" cy="4114800"/>
          </a:xfrm>
          <a:prstGeom prst="rect">
            <a:avLst/>
          </a:prstGeom>
        </p:spPr>
      </p:pic>
      <p:sp>
        <p:nvSpPr>
          <p:cNvPr id="4" name="Text 9"/>
          <p:cNvSpPr/>
          <p:nvPr>
            <p:ph idx="111" type="title" hasCustomPrompt="1"/>
          </p:nvPr>
        </p:nvSpPr>
        <p:spPr>
          <a:xfrm>
            <a:off x="5440680" y="822960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Running the booth</a:t>
            </a:r>
            <a:endParaRPr lang="en-US" sz="20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TECH REHEARSAL</a:t>
            </a:r>
            <a:endParaRPr lang="en-US" sz="900" dirty="0"/>
          </a:p>
        </p:txBody>
      </p:sp>
      <p:sp>
        <p:nvSpPr>
          <p:cNvPr id="6" name="Text 10"/>
          <p:cNvSpPr/>
          <p:nvPr>
            <p:ph idx="114" type="body" hasCustomPrompt="1"/>
          </p:nvPr>
        </p:nvSpPr>
        <p:spPr>
          <a:xfrm>
            <a:off x="5440680" y="1874520"/>
            <a:ext cx="3108960" cy="2788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operator watches the stage, not the laptop. Status dots and the feed answer “did that cue land?” at a glance.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" name="Text 8"/>
          <p:cNvSpPr/>
          <p:nvPr>
            <p:ph idx="110" type="title" hasCustomPrompt="1"/>
          </p:nvPr>
        </p:nvSpPr>
        <p:spPr>
          <a:xfrm>
            <a:off x="777240" y="960120"/>
            <a:ext cx="7589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Welcome to annieData</a:t>
            </a:r>
            <a:endParaRPr lang="en-US" sz="2200" dirty="0"/>
          </a:p>
        </p:txBody>
      </p:sp>
      <p:sp>
        <p:nvSpPr>
          <p:cNvPr id="4" name="Text 9"/>
          <p:cNvSpPr/>
          <p:nvPr>
            <p:ph idx="112" type="body" hasCustomPrompt="1"/>
          </p:nvPr>
        </p:nvSpPr>
        <p:spPr>
          <a:xfrm>
            <a:off x="1280160" y="178308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Add a device using the + button above</a:t>
            </a:r>
            <a:endParaRPr lang="en-US" sz="1400" dirty="0"/>
          </a:p>
        </p:txBody>
      </p:sp>
      <p:sp>
        <p:nvSpPr>
          <p:cNvPr id="5" name="Text 10"/>
          <p:cNvSpPr/>
          <p:nvPr>
            <p:ph idx="114" type="body" hasCustomPrompt="1"/>
          </p:nvPr>
        </p:nvSpPr>
        <p:spPr>
          <a:xfrm>
            <a:off x="1280160" y="242316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Click its tab and choose Query to load its config</a:t>
            </a:r>
            <a:endParaRPr lang="en-US" sz="1400" dirty="0"/>
          </a:p>
        </p:txBody>
      </p:sp>
      <p:sp>
        <p:nvSpPr>
          <p:cNvPr id="6" name="Text 11"/>
          <p:cNvSpPr/>
          <p:nvPr>
            <p:ph idx="116" type="body" hasCustomPrompt="1"/>
          </p:nvPr>
        </p:nvSpPr>
        <p:spPr>
          <a:xfrm>
            <a:off x="1280160" y="306324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Create messages and scenes to start sending OSC</a:t>
            </a:r>
            <a:endParaRPr lang="en-US" sz="1400" dirty="0"/>
          </a:p>
        </p:txBody>
      </p:sp>
      <p:sp>
        <p:nvSpPr>
          <p:cNvPr id="7" name="Text 12"/>
          <p:cNvSpPr/>
          <p:nvPr>
            <p:ph idx="118" type="body" hasCustomPrompt="1"/>
          </p:nvPr>
        </p:nvSpPr>
        <p:spPr>
          <a:xfrm>
            <a:off x="777240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Take a tour!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22960" y="1005840"/>
            <a:ext cx="74980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on the left. The feed is always visible.</a:t>
            </a:r>
            <a:endParaRPr lang="en-US" sz="24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822960" y="3703320"/>
            <a:ext cx="7498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the split-panel rule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questions? the feed is open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7490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Restore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oey (dark)">
  <a:themeElements>
    <a:clrScheme name="gooey (dark)">
      <a:dk1>
        <a:srgbClr val="D8DEE8"/>
      </a:dk1>
      <a:lt1>
        <a:srgbClr val="121018"/>
      </a:lt1>
      <a:dk2>
        <a:srgbClr val="A780A8"/>
      </a:dk2>
      <a:lt2>
        <a:srgbClr val="1B1825"/>
      </a:lt2>
      <a:accent1>
        <a:srgbClr val="A780A8"/>
      </a:accent1>
      <a:accent2>
        <a:srgbClr val="DC8B8B"/>
      </a:accent2>
      <a:accent3>
        <a:srgbClr val="81B921"/>
      </a:accent3>
      <a:accent4>
        <a:srgbClr val="DAA415"/>
      </a:accent4>
      <a:accent5>
        <a:srgbClr val="D93972"/>
      </a:accent5>
      <a:accent6>
        <a:srgbClr val="C5C08B"/>
      </a:accent6>
      <a:hlink>
        <a:srgbClr val="A780A8"/>
      </a:hlink>
      <a:folHlink>
        <a:srgbClr val="898C95"/>
      </a:folHlink>
    </a:clrScheme>
    <a:fontScheme name="gooey (dark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gooey (dark)</dc:title>
  <dc:subject>PptxGenJS Presentation</dc:subject>
  <dc:creator>Annabel Lee</dc:creator>
  <cp:lastModifiedBy>Annabel Lee</cp:lastModifiedBy>
  <cp:revision>1</cp:revision>
  <dcterms:created xsi:type="dcterms:W3CDTF">2026-10-23T20:15:09Z</dcterms:created>
  <dcterms:modified xsi:type="dcterms:W3CDTF">2026-10-23T20:15:09Z</dcterms:modified>
</cp:coreProperties>
</file>