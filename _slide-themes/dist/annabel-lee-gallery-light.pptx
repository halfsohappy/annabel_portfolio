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 (theme background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063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063240"/>
            <a:ext cx="1310858" cy="6400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1306286" y="3063240"/>
            <a:ext cx="1310858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Shape 3"/>
          <p:cNvSpPr/>
          <p:nvPr/>
        </p:nvSpPr>
        <p:spPr>
          <a:xfrm>
            <a:off x="2612571" y="3063240"/>
            <a:ext cx="1310858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3918857" y="3063240"/>
            <a:ext cx="1310858" cy="6400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7" name="Shape 5"/>
          <p:cNvSpPr/>
          <p:nvPr/>
        </p:nvSpPr>
        <p:spPr>
          <a:xfrm>
            <a:off x="5225143" y="3063240"/>
            <a:ext cx="1310858" cy="6400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8" name="Shape 6"/>
          <p:cNvSpPr/>
          <p:nvPr/>
        </p:nvSpPr>
        <p:spPr>
          <a:xfrm>
            <a:off x="6531429" y="3063240"/>
            <a:ext cx="1310858" cy="6400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9" name="Shape 7"/>
          <p:cNvSpPr/>
          <p:nvPr/>
        </p:nvSpPr>
        <p:spPr>
          <a:xfrm>
            <a:off x="7837714" y="3063240"/>
            <a:ext cx="1310858" cy="6400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0" name="Text 8"/>
          <p:cNvSpPr/>
          <p:nvPr>
            <p:ph idx="108" type="title" hasCustomPrompt="1"/>
          </p:nvPr>
        </p:nvSpPr>
        <p:spPr>
          <a:xfrm>
            <a:off x="457200" y="457200"/>
            <a:ext cx="822960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400" dirty="0">
                <a:solidFill>
                  <a:srgbClr val="FAF9F9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5400" dirty="0">
                <a:solidFill>
                  <a:srgbClr val="FAF9F9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Annabel Lee</a:t>
            </a:r>
            <a:endParaRPr lang="en-US" sz="5400" dirty="0"/>
          </a:p>
        </p:txBody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300" dirty="0">
                <a:solidFill>
                  <a:srgbClr val="2D2046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300" dirty="0">
                <a:solidFill>
                  <a:srgbClr val="2D2046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Electrical Engineering for Theater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48640" y="3520440"/>
            <a:ext cx="8046720" cy="1097280"/>
          </a:xfrm>
          <a:prstGeom prst="roundRect">
            <a:avLst>
              <a:gd name="adj" fmla="val 10833"/>
            </a:avLst>
          </a:prstGeom>
          <a:ln w="28575">
            <a:solidFill>
              <a:schemeClr val="bg2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>
            <p:ph idx="111" type="body" hasCustomPrompt="1"/>
          </p:nvPr>
        </p:nvSpPr>
        <p:spPr>
          <a:xfrm>
            <a:off x="822960" y="3721608"/>
            <a:ext cx="237744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140" kern="0" dirty="0">
                <a:solidFill>
                  <a:srgbClr val="90849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140" kern="0" dirty="0">
                <a:solidFill>
                  <a:srgbClr val="90849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14" name="Text 9"/>
          <p:cNvSpPr/>
          <p:nvPr>
            <p:ph idx="112" type="body" hasCustomPrompt="1"/>
          </p:nvPr>
        </p:nvSpPr>
        <p:spPr>
          <a:xfrm>
            <a:off x="822960" y="3968496"/>
            <a:ext cx="2377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Your name</a:t>
            </a:r>
            <a:endParaRPr lang="en-US" sz="1200" dirty="0"/>
          </a:p>
        </p:txBody>
      </p:sp>
      <p:sp>
        <p:nvSpPr>
          <p:cNvPr id="15" name="Text 9"/>
          <p:cNvSpPr/>
          <p:nvPr>
            <p:ph idx="113" type="body" hasCustomPrompt="1"/>
          </p:nvPr>
        </p:nvSpPr>
        <p:spPr>
          <a:xfrm>
            <a:off x="3520440" y="3721608"/>
            <a:ext cx="237744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140" kern="0" dirty="0">
                <a:solidFill>
                  <a:srgbClr val="90849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140" kern="0" dirty="0">
                <a:solidFill>
                  <a:srgbClr val="90849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DATE</a:t>
            </a:r>
            <a:endParaRPr lang="en-US" sz="900" dirty="0"/>
          </a:p>
        </p:txBody>
      </p:sp>
      <p:sp>
        <p:nvSpPr>
          <p:cNvPr id="16" name="Text 9"/>
          <p:cNvSpPr/>
          <p:nvPr>
            <p:ph idx="114" type="body" hasCustomPrompt="1"/>
          </p:nvPr>
        </p:nvSpPr>
        <p:spPr>
          <a:xfrm>
            <a:off x="3520440" y="3968496"/>
            <a:ext cx="2377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Month 20XX</a:t>
            </a:r>
            <a:endParaRPr lang="en-US" sz="1200" dirty="0"/>
          </a:p>
        </p:txBody>
      </p:sp>
      <p:sp>
        <p:nvSpPr>
          <p:cNvPr id="17" name="Text 9"/>
          <p:cNvSpPr/>
          <p:nvPr>
            <p:ph idx="115" type="body" hasCustomPrompt="1"/>
          </p:nvPr>
        </p:nvSpPr>
        <p:spPr>
          <a:xfrm>
            <a:off x="6217920" y="3721608"/>
            <a:ext cx="237744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140" kern="0" dirty="0">
                <a:solidFill>
                  <a:srgbClr val="90849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140" kern="0" dirty="0">
                <a:solidFill>
                  <a:srgbClr val="90849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CONTEXT</a:t>
            </a:r>
            <a:endParaRPr lang="en-US" sz="900" dirty="0"/>
          </a:p>
        </p:txBody>
      </p:sp>
      <p:sp>
        <p:nvSpPr>
          <p:cNvPr id="18" name="Text 9"/>
          <p:cNvSpPr/>
          <p:nvPr>
            <p:ph idx="116" type="body" hasCustomPrompt="1"/>
          </p:nvPr>
        </p:nvSpPr>
        <p:spPr>
          <a:xfrm>
            <a:off x="6217920" y="3968496"/>
            <a:ext cx="2377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Where this is shown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DCD4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94360"/>
            <a:ext cx="3657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800" dirty="0">
                <a:solidFill>
                  <a:srgbClr val="FAF9F9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8800" dirty="0">
                <a:solidFill>
                  <a:srgbClr val="FAF9F9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01</a:t>
            </a:r>
            <a:endParaRPr lang="en-US" sz="8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46888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rgbClr val="2D2046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dirty="0">
                <a:solidFill>
                  <a:srgbClr val="2D2046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Section title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2D2046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2D2046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One line on what this section covers</a:t>
            </a:r>
            <a:endParaRPr lang="en-US" sz="1300" dirty="0"/>
          </a:p>
        </p:txBody>
      </p:sp>
      <p:sp>
        <p:nvSpPr>
          <p:cNvPr id="5" name="Shape 0"/>
          <p:cNvSpPr/>
          <p:nvPr/>
        </p:nvSpPr>
        <p:spPr>
          <a:xfrm>
            <a:off x="0" y="5079492"/>
            <a:ext cx="1310858" cy="6400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Shape 1"/>
          <p:cNvSpPr/>
          <p:nvPr/>
        </p:nvSpPr>
        <p:spPr>
          <a:xfrm>
            <a:off x="1306286" y="5079492"/>
            <a:ext cx="1310858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Shape 2"/>
          <p:cNvSpPr/>
          <p:nvPr/>
        </p:nvSpPr>
        <p:spPr>
          <a:xfrm>
            <a:off x="2612571" y="5079492"/>
            <a:ext cx="1310858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8" name="Shape 3"/>
          <p:cNvSpPr/>
          <p:nvPr/>
        </p:nvSpPr>
        <p:spPr>
          <a:xfrm>
            <a:off x="3918857" y="5079492"/>
            <a:ext cx="1310858" cy="6400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9" name="Shape 4"/>
          <p:cNvSpPr/>
          <p:nvPr/>
        </p:nvSpPr>
        <p:spPr>
          <a:xfrm>
            <a:off x="5225143" y="5079492"/>
            <a:ext cx="1310858" cy="6400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0" name="Shape 5"/>
          <p:cNvSpPr/>
          <p:nvPr/>
        </p:nvSpPr>
        <p:spPr>
          <a:xfrm>
            <a:off x="6531429" y="5079492"/>
            <a:ext cx="1310858" cy="6400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1" name="Shape 6"/>
          <p:cNvSpPr/>
          <p:nvPr/>
        </p:nvSpPr>
        <p:spPr>
          <a:xfrm>
            <a:off x="7837714" y="5079492"/>
            <a:ext cx="1310858" cy="64008"/>
          </a:xfrm>
          <a:prstGeom prst="rect">
            <a:avLst/>
          </a:prstGeom>
          <a:solidFill>
            <a:schemeClr val="accent6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10858" cy="5486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Shape 1"/>
          <p:cNvSpPr/>
          <p:nvPr/>
        </p:nvSpPr>
        <p:spPr>
          <a:xfrm>
            <a:off x="1306286" y="0"/>
            <a:ext cx="1310858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Shape 2"/>
          <p:cNvSpPr/>
          <p:nvPr/>
        </p:nvSpPr>
        <p:spPr>
          <a:xfrm>
            <a:off x="2612571" y="0"/>
            <a:ext cx="1310858" cy="5486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3918857" y="0"/>
            <a:ext cx="1310858" cy="5486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" name="Shape 4"/>
          <p:cNvSpPr/>
          <p:nvPr/>
        </p:nvSpPr>
        <p:spPr>
          <a:xfrm>
            <a:off x="5225143" y="0"/>
            <a:ext cx="1310858" cy="5486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7" name="Shape 5"/>
          <p:cNvSpPr/>
          <p:nvPr/>
        </p:nvSpPr>
        <p:spPr>
          <a:xfrm>
            <a:off x="6531429" y="0"/>
            <a:ext cx="1310858" cy="5486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8" name="Shape 6"/>
          <p:cNvSpPr/>
          <p:nvPr/>
        </p:nvSpPr>
        <p:spPr>
          <a:xfrm>
            <a:off x="7837714" y="0"/>
            <a:ext cx="1310858" cy="5486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9" name="Text 7"/>
          <p:cNvSpPr/>
          <p:nvPr>
            <p:ph idx="107" type="body" hasCustomPrompt="1"/>
          </p:nvPr>
        </p:nvSpPr>
        <p:spPr>
          <a:xfrm>
            <a:off x="548640" y="347472"/>
            <a:ext cx="804672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120" kern="0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120" kern="0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SECTION LABEL</a:t>
            </a:r>
            <a:endParaRPr lang="en-US" sz="1000" dirty="0"/>
          </a:p>
        </p:txBody>
      </p:sp>
      <p:sp>
        <p:nvSpPr>
          <p:cNvPr id="10" name="Text 7"/>
          <p:cNvSpPr/>
          <p:nvPr>
            <p:ph idx="108" type="title" hasCustomPrompt="1"/>
          </p:nvPr>
        </p:nvSpPr>
        <p:spPr>
          <a:xfrm>
            <a:off x="548640" y="585216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Slide title</a:t>
            </a:r>
            <a:endParaRPr lang="en-US" sz="2600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548640" y="1463040"/>
            <a:ext cx="8046720" cy="3063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spcAft>
                <a:spcPts val="600"/>
              </a:spcAft>
              <a:buNone/>
              <a:defRPr lang="en-US" sz="14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Body text in Martian Mono, set in slate grey like the site's paragraphs.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548640" y="4727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0849C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Annabel Lee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BB7B7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lat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10858" cy="5486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Shape 1"/>
          <p:cNvSpPr/>
          <p:nvPr/>
        </p:nvSpPr>
        <p:spPr>
          <a:xfrm>
            <a:off x="1306286" y="0"/>
            <a:ext cx="1310858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Shape 2"/>
          <p:cNvSpPr/>
          <p:nvPr/>
        </p:nvSpPr>
        <p:spPr>
          <a:xfrm>
            <a:off x="2612571" y="0"/>
            <a:ext cx="1310858" cy="5486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3918857" y="0"/>
            <a:ext cx="1310858" cy="5486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" name="Shape 4"/>
          <p:cNvSpPr/>
          <p:nvPr/>
        </p:nvSpPr>
        <p:spPr>
          <a:xfrm>
            <a:off x="5225143" y="0"/>
            <a:ext cx="1310858" cy="5486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7" name="Shape 5"/>
          <p:cNvSpPr/>
          <p:nvPr/>
        </p:nvSpPr>
        <p:spPr>
          <a:xfrm>
            <a:off x="6531429" y="0"/>
            <a:ext cx="1310858" cy="5486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8" name="Shape 6"/>
          <p:cNvSpPr/>
          <p:nvPr/>
        </p:nvSpPr>
        <p:spPr>
          <a:xfrm>
            <a:off x="7837714" y="0"/>
            <a:ext cx="1310858" cy="5486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9" name="Text 7"/>
          <p:cNvSpPr/>
          <p:nvPr>
            <p:ph idx="107" type="body" hasCustomPrompt="1"/>
          </p:nvPr>
        </p:nvSpPr>
        <p:spPr>
          <a:xfrm>
            <a:off x="548640" y="347472"/>
            <a:ext cx="804672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120" kern="0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120" kern="0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SECTION LABEL</a:t>
            </a:r>
            <a:endParaRPr lang="en-US" sz="1000" dirty="0"/>
          </a:p>
        </p:txBody>
      </p:sp>
      <p:sp>
        <p:nvSpPr>
          <p:cNvPr id="10" name="Text 7"/>
          <p:cNvSpPr/>
          <p:nvPr>
            <p:ph idx="108" type="title" hasCustomPrompt="1"/>
          </p:nvPr>
        </p:nvSpPr>
        <p:spPr>
          <a:xfrm>
            <a:off x="548640" y="585216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Slide title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548640" y="1463040"/>
            <a:ext cx="3931920" cy="3017520"/>
          </a:xfrm>
          <a:prstGeom prst="roundRect">
            <a:avLst>
              <a:gd name="adj" fmla="val 3939"/>
            </a:avLst>
          </a:prstGeom>
          <a:ln w="381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>
            <p:ph idx="110" type="body" hasCustomPrompt="1"/>
          </p:nvPr>
        </p:nvSpPr>
        <p:spPr>
          <a:xfrm>
            <a:off x="804672" y="1645920"/>
            <a:ext cx="34290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Left heading</a:t>
            </a:r>
            <a:endParaRPr lang="en-US" sz="1600" dirty="0"/>
          </a:p>
        </p:txBody>
      </p:sp>
      <p:sp>
        <p:nvSpPr>
          <p:cNvPr id="13" name="Text 8"/>
          <p:cNvSpPr/>
          <p:nvPr>
            <p:ph idx="111" type="body" hasCustomPrompt="1"/>
          </p:nvPr>
        </p:nvSpPr>
        <p:spPr>
          <a:xfrm>
            <a:off x="804672" y="2121408"/>
            <a:ext cx="342900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spcAft>
                <a:spcPts val="400"/>
              </a:spcAft>
              <a:buNone/>
              <a:defRPr lang="en-US" sz="13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Supporting text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4663440" y="1463040"/>
            <a:ext cx="3931920" cy="3017520"/>
          </a:xfrm>
          <a:prstGeom prst="roundRect">
            <a:avLst>
              <a:gd name="adj" fmla="val 3939"/>
            </a:avLst>
          </a:prstGeom>
          <a:ln w="381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5" name="Text 9"/>
          <p:cNvSpPr/>
          <p:nvPr>
            <p:ph idx="113" type="body" hasCustomPrompt="1"/>
          </p:nvPr>
        </p:nvSpPr>
        <p:spPr>
          <a:xfrm>
            <a:off x="4919472" y="1645920"/>
            <a:ext cx="34290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Right heading</a:t>
            </a:r>
            <a:endParaRPr lang="en-US" sz="1600" dirty="0"/>
          </a:p>
        </p:txBody>
      </p:sp>
      <p:sp>
        <p:nvSpPr>
          <p:cNvPr id="16" name="Text 9"/>
          <p:cNvSpPr/>
          <p:nvPr>
            <p:ph idx="114" type="body" hasCustomPrompt="1"/>
          </p:nvPr>
        </p:nvSpPr>
        <p:spPr>
          <a:xfrm>
            <a:off x="4919472" y="2121408"/>
            <a:ext cx="342900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spcAft>
                <a:spcPts val="400"/>
              </a:spcAft>
              <a:buNone/>
              <a:defRPr lang="en-US" sz="13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Supporting text</a:t>
            </a:r>
            <a:endParaRPr lang="en-US" sz="1300" dirty="0"/>
          </a:p>
        </p:txBody>
      </p:sp>
      <p:sp>
        <p:nvSpPr>
          <p:cNvPr id="17" name="Text 9"/>
          <p:cNvSpPr/>
          <p:nvPr/>
        </p:nvSpPr>
        <p:spPr>
          <a:xfrm>
            <a:off x="548640" y="4727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0849C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Annabel Lee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BB7B7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gure pla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10858" cy="5486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Shape 1"/>
          <p:cNvSpPr/>
          <p:nvPr/>
        </p:nvSpPr>
        <p:spPr>
          <a:xfrm>
            <a:off x="1306286" y="0"/>
            <a:ext cx="1310858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Shape 2"/>
          <p:cNvSpPr/>
          <p:nvPr/>
        </p:nvSpPr>
        <p:spPr>
          <a:xfrm>
            <a:off x="2612571" y="0"/>
            <a:ext cx="1310858" cy="5486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3918857" y="0"/>
            <a:ext cx="1310858" cy="5486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" name="Shape 4"/>
          <p:cNvSpPr/>
          <p:nvPr/>
        </p:nvSpPr>
        <p:spPr>
          <a:xfrm>
            <a:off x="5225143" y="0"/>
            <a:ext cx="1310858" cy="5486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7" name="Shape 5"/>
          <p:cNvSpPr/>
          <p:nvPr/>
        </p:nvSpPr>
        <p:spPr>
          <a:xfrm>
            <a:off x="6531429" y="0"/>
            <a:ext cx="1310858" cy="5486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8" name="Shape 6"/>
          <p:cNvSpPr/>
          <p:nvPr/>
        </p:nvSpPr>
        <p:spPr>
          <a:xfrm>
            <a:off x="7837714" y="0"/>
            <a:ext cx="1310858" cy="5486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9" name="Text 7"/>
          <p:cNvSpPr/>
          <p:nvPr>
            <p:ph idx="107" type="body" hasCustomPrompt="1"/>
          </p:nvPr>
        </p:nvSpPr>
        <p:spPr>
          <a:xfrm>
            <a:off x="548640" y="457200"/>
            <a:ext cx="283464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120" kern="0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120" kern="0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SECTION LABEL</a:t>
            </a:r>
            <a:endParaRPr lang="en-US" sz="1000" dirty="0"/>
          </a:p>
        </p:txBody>
      </p:sp>
      <p:sp>
        <p:nvSpPr>
          <p:cNvPr id="10" name="Text 7"/>
          <p:cNvSpPr/>
          <p:nvPr>
            <p:ph idx="108" type="title" hasCustomPrompt="1"/>
          </p:nvPr>
        </p:nvSpPr>
        <p:spPr>
          <a:xfrm>
            <a:off x="548640" y="713232"/>
            <a:ext cx="28346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2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548640" y="2011680"/>
            <a:ext cx="2788920" cy="2514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spcAft>
                <a:spcPts val="400"/>
              </a:spcAft>
              <a:buNone/>
              <a:defRPr lang="en-US" sz="12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What the figure shows, and why it matters.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3611880" y="411480"/>
            <a:ext cx="5074920" cy="4297680"/>
          </a:xfrm>
          <a:prstGeom prst="roundRect">
            <a:avLst>
              <a:gd name="adj" fmla="val 276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>
            <p:ph idx="111" hasCustomPrompt="1"/>
          </p:nvPr>
        </p:nvSpPr>
        <p:spPr>
          <a:xfrm>
            <a:off x="3648456" y="448056"/>
            <a:ext cx="5001768" cy="36393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dirty="0"/>
            </a:lvl1pPr>
          </a:lstStyle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Drop a photo</a:t>
            </a:r>
            <a:endParaRPr lang="en-US" dirty="0"/>
          </a:p>
        </p:txBody>
      </p:sp>
      <p:sp>
        <p:nvSpPr>
          <p:cNvPr id="14" name="Shape 8"/>
          <p:cNvSpPr/>
          <p:nvPr/>
        </p:nvSpPr>
        <p:spPr>
          <a:xfrm>
            <a:off x="3648456" y="4087368"/>
            <a:ext cx="5001768" cy="585216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5" name="Shape 9"/>
          <p:cNvSpPr/>
          <p:nvPr/>
        </p:nvSpPr>
        <p:spPr>
          <a:xfrm>
            <a:off x="3648456" y="4087368"/>
            <a:ext cx="5001768" cy="0"/>
          </a:xfrm>
          <a:prstGeom prst="line">
            <a:avLst/>
          </a:prstGeom>
          <a:noFill/>
          <a:ln w="28575">
            <a:solidFill>
              <a:schemeClr val="bg2"/>
            </a:solidFill>
            <a:prstDash val="dash"/>
          </a:ln>
        </p:spPr>
      </p:sp>
      <p:sp>
        <p:nvSpPr>
          <p:cNvPr id="16" name="Text 10"/>
          <p:cNvSpPr/>
          <p:nvPr>
            <p:ph idx="114" type="body" hasCustomPrompt="1"/>
          </p:nvPr>
        </p:nvSpPr>
        <p:spPr>
          <a:xfrm>
            <a:off x="3840480" y="4206240"/>
            <a:ext cx="960120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Fig. 01 —</a:t>
            </a:r>
            <a:endParaRPr lang="en-US" sz="1100" dirty="0"/>
          </a:p>
        </p:txBody>
      </p:sp>
      <p:sp>
        <p:nvSpPr>
          <p:cNvPr id="17" name="Text 10"/>
          <p:cNvSpPr/>
          <p:nvPr>
            <p:ph idx="115" type="body" hasCustomPrompt="1"/>
          </p:nvPr>
        </p:nvSpPr>
        <p:spPr>
          <a:xfrm>
            <a:off x="4773168" y="4206240"/>
            <a:ext cx="3749040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Caption</a:t>
            </a:r>
            <a:endParaRPr lang="en-US" sz="1100" dirty="0"/>
          </a:p>
        </p:txBody>
      </p:sp>
      <p:sp>
        <p:nvSpPr>
          <p:cNvPr id="18" name="Text 10"/>
          <p:cNvSpPr/>
          <p:nvPr/>
        </p:nvSpPr>
        <p:spPr>
          <a:xfrm>
            <a:off x="3611880" y="411480"/>
            <a:ext cx="5074920" cy="4297680"/>
          </a:xfrm>
          <a:prstGeom prst="roundRect">
            <a:avLst>
              <a:gd name="adj" fmla="val 2766"/>
            </a:avLst>
          </a:prstGeom>
          <a:ln w="38100">
            <a:solidFill>
              <a:schemeClr val="bg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9" name="Text 11"/>
          <p:cNvSpPr/>
          <p:nvPr/>
        </p:nvSpPr>
        <p:spPr>
          <a:xfrm>
            <a:off x="548640" y="4727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0849C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Annabel Lee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BB7B7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gri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hasCustomPrompt="1"/>
          </p:nvPr>
        </p:nvSpPr>
        <p:spPr>
          <a:xfrm>
            <a:off x="228600" y="228600"/>
            <a:ext cx="4206240" cy="46863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dirty="0"/>
            </a:lvl1pPr>
          </a:lstStyle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Hero photo</a:t>
            </a:r>
            <a:endParaRPr lang="en-US" dirty="0"/>
          </a:p>
        </p:txBody>
      </p:sp>
      <p:sp>
        <p:nvSpPr>
          <p:cNvPr id="3" name="Text 0"/>
          <p:cNvSpPr/>
          <p:nvPr>
            <p:ph idx="101" hasCustomPrompt="1"/>
          </p:nvPr>
        </p:nvSpPr>
        <p:spPr>
          <a:xfrm>
            <a:off x="4526280" y="228600"/>
            <a:ext cx="2148840" cy="22951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dirty="0"/>
            </a:lvl1pPr>
          </a:lstStyle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4" name="Text 0"/>
          <p:cNvSpPr/>
          <p:nvPr>
            <p:ph idx="102" hasCustomPrompt="1"/>
          </p:nvPr>
        </p:nvSpPr>
        <p:spPr>
          <a:xfrm>
            <a:off x="6766560" y="228600"/>
            <a:ext cx="2148840" cy="22951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dirty="0"/>
            </a:lvl1pPr>
          </a:lstStyle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5" name="Text 0"/>
          <p:cNvSpPr/>
          <p:nvPr>
            <p:ph idx="103" hasCustomPrompt="1"/>
          </p:nvPr>
        </p:nvSpPr>
        <p:spPr>
          <a:xfrm>
            <a:off x="4526280" y="2615184"/>
            <a:ext cx="4389120" cy="229971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dirty="0"/>
            </a:lvl1pPr>
          </a:lstStyle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Wide photo</a:t>
            </a:r>
            <a:endParaRPr lang="en-US" dirty="0"/>
          </a:p>
        </p:txBody>
      </p:sp>
      <p:sp>
        <p:nvSpPr>
          <p:cNvPr id="6" name="Shape 0"/>
          <p:cNvSpPr/>
          <p:nvPr/>
        </p:nvSpPr>
        <p:spPr>
          <a:xfrm>
            <a:off x="228600" y="3611880"/>
            <a:ext cx="4206240" cy="1303020"/>
          </a:xfrm>
          <a:prstGeom prst="rect">
            <a:avLst/>
          </a:prstGeom>
          <a:solidFill>
            <a:srgbClr val="90849C">
              <a:alpha val="70000"/>
            </a:srgbClr>
          </a:solidFill>
          <a:ln/>
        </p:spPr>
      </p:sp>
      <p:sp>
        <p:nvSpPr>
          <p:cNvPr id="7" name="Text 1"/>
          <p:cNvSpPr/>
          <p:nvPr>
            <p:ph idx="105" type="title" hasCustomPrompt="1"/>
          </p:nvPr>
        </p:nvSpPr>
        <p:spPr>
          <a:xfrm>
            <a:off x="411480" y="3675888"/>
            <a:ext cx="384048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Collection title</a:t>
            </a:r>
            <a:endParaRPr lang="en-US" sz="2200" dirty="0"/>
          </a:p>
        </p:txBody>
      </p:sp>
      <p:sp>
        <p:nvSpPr>
          <p:cNvPr id="8" name="Text 1"/>
          <p:cNvSpPr/>
          <p:nvPr>
            <p:ph idx="106" type="body" hasCustomPrompt="1"/>
          </p:nvPr>
        </p:nvSpPr>
        <p:spPr>
          <a:xfrm>
            <a:off x="411480" y="4425696"/>
            <a:ext cx="38404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Subtitle · years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ject ben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10858" cy="5486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Shape 1"/>
          <p:cNvSpPr/>
          <p:nvPr/>
        </p:nvSpPr>
        <p:spPr>
          <a:xfrm>
            <a:off x="1306286" y="0"/>
            <a:ext cx="1310858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Shape 2"/>
          <p:cNvSpPr/>
          <p:nvPr/>
        </p:nvSpPr>
        <p:spPr>
          <a:xfrm>
            <a:off x="2612571" y="0"/>
            <a:ext cx="1310858" cy="5486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3918857" y="0"/>
            <a:ext cx="1310858" cy="5486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" name="Shape 4"/>
          <p:cNvSpPr/>
          <p:nvPr/>
        </p:nvSpPr>
        <p:spPr>
          <a:xfrm>
            <a:off x="5225143" y="0"/>
            <a:ext cx="1310858" cy="5486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7" name="Shape 5"/>
          <p:cNvSpPr/>
          <p:nvPr/>
        </p:nvSpPr>
        <p:spPr>
          <a:xfrm>
            <a:off x="6531429" y="0"/>
            <a:ext cx="1310858" cy="5486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8" name="Shape 6"/>
          <p:cNvSpPr/>
          <p:nvPr/>
        </p:nvSpPr>
        <p:spPr>
          <a:xfrm>
            <a:off x="7837714" y="0"/>
            <a:ext cx="1310858" cy="5486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9" name="Text 7"/>
          <p:cNvSpPr/>
          <p:nvPr>
            <p:ph idx="107" type="body" hasCustomPrompt="1"/>
          </p:nvPr>
        </p:nvSpPr>
        <p:spPr>
          <a:xfrm>
            <a:off x="457200" y="320040"/>
            <a:ext cx="576072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120" kern="0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120" kern="0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SECTION LABEL</a:t>
            </a:r>
            <a:endParaRPr lang="en-US" sz="1000" dirty="0"/>
          </a:p>
        </p:txBody>
      </p:sp>
      <p:sp>
        <p:nvSpPr>
          <p:cNvPr id="10" name="Text 7"/>
          <p:cNvSpPr/>
          <p:nvPr>
            <p:ph idx="108" type="title" hasCustomPrompt="1"/>
          </p:nvPr>
        </p:nvSpPr>
        <p:spPr>
          <a:xfrm>
            <a:off x="457200" y="548640"/>
            <a:ext cx="5760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Slide title</a:t>
            </a:r>
            <a:endParaRPr lang="en-US" sz="2600" dirty="0"/>
          </a:p>
        </p:txBody>
      </p:sp>
      <p:pic>
        <p:nvPicPr>
          <p:cNvPr id="11" name="Image 0" descr="/home/user/Annabel_Portfolio/_slide-themes/.cache/assets/pf_stripes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797296" cy="2331720"/>
          </a:xfrm>
          <a:prstGeom prst="rect">
            <a:avLst/>
          </a:prstGeom>
        </p:spPr>
      </p:pic>
      <p:sp>
        <p:nvSpPr>
          <p:cNvPr id="12" name="Text 7"/>
          <p:cNvSpPr/>
          <p:nvPr>
            <p:ph idx="110" type="body" hasCustomPrompt="1"/>
          </p:nvPr>
        </p:nvSpPr>
        <p:spPr>
          <a:xfrm>
            <a:off x="731520" y="1481328"/>
            <a:ext cx="5248656" cy="19293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5000"/>
              </a:lnSpc>
              <a:buNone/>
              <a:defRPr lang="en-US" sz="1700" dirty="0">
                <a:solidFill>
                  <a:schemeClr val="accent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chemeClr val="accent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One or two sentences on what the project is and why it exists.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6364224" y="1280160"/>
            <a:ext cx="2322576" cy="3429000"/>
          </a:xfrm>
          <a:prstGeom prst="roundRect">
            <a:avLst>
              <a:gd name="adj" fmla="val 5118"/>
            </a:avLst>
          </a:prstGeom>
          <a:ln w="381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4" name="Text 8"/>
          <p:cNvSpPr/>
          <p:nvPr>
            <p:ph idx="112" type="body" hasCustomPrompt="1"/>
          </p:nvPr>
        </p:nvSpPr>
        <p:spPr>
          <a:xfrm>
            <a:off x="6565392" y="1444752"/>
            <a:ext cx="19659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accent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Skills</a:t>
            </a:r>
            <a:endParaRPr lang="en-US" sz="1500" dirty="0"/>
          </a:p>
        </p:txBody>
      </p:sp>
      <p:sp>
        <p:nvSpPr>
          <p:cNvPr id="15" name="Text 8"/>
          <p:cNvSpPr/>
          <p:nvPr>
            <p:ph idx="113" type="body" hasCustomPrompt="1"/>
          </p:nvPr>
        </p:nvSpPr>
        <p:spPr>
          <a:xfrm>
            <a:off x="6565392" y="1874520"/>
            <a:ext cx="1965960" cy="2651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45000"/>
              </a:lnSpc>
              <a:buNone/>
              <a:defRPr lang="en-US" sz="11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One per line</a:t>
            </a:r>
            <a:endParaRPr lang="en-US" sz="1100" dirty="0"/>
          </a:p>
        </p:txBody>
      </p:sp>
      <p:sp>
        <p:nvSpPr>
          <p:cNvPr id="16" name="Text 8"/>
          <p:cNvSpPr/>
          <p:nvPr/>
        </p:nvSpPr>
        <p:spPr>
          <a:xfrm>
            <a:off x="457200" y="3721608"/>
            <a:ext cx="5797296" cy="987552"/>
          </a:xfrm>
          <a:prstGeom prst="roundRect">
            <a:avLst>
              <a:gd name="adj" fmla="val 12037"/>
            </a:avLst>
          </a:prstGeom>
          <a:ln w="38100">
            <a:solidFill>
              <a:schemeClr val="bg2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7" name="Text 9"/>
          <p:cNvSpPr/>
          <p:nvPr>
            <p:ph idx="115" type="body" hasCustomPrompt="1"/>
          </p:nvPr>
        </p:nvSpPr>
        <p:spPr>
          <a:xfrm>
            <a:off x="713232" y="3886200"/>
            <a:ext cx="173736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140" kern="0" dirty="0">
                <a:solidFill>
                  <a:srgbClr val="90849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140" kern="0" dirty="0">
                <a:solidFill>
                  <a:srgbClr val="90849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DATE</a:t>
            </a:r>
            <a:endParaRPr lang="en-US" sz="900" dirty="0"/>
          </a:p>
        </p:txBody>
      </p:sp>
      <p:sp>
        <p:nvSpPr>
          <p:cNvPr id="18" name="Text 9"/>
          <p:cNvSpPr/>
          <p:nvPr>
            <p:ph idx="116" type="body" hasCustomPrompt="1"/>
          </p:nvPr>
        </p:nvSpPr>
        <p:spPr>
          <a:xfrm>
            <a:off x="713232" y="4133088"/>
            <a:ext cx="17373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2026</a:t>
            </a:r>
            <a:endParaRPr lang="en-US" sz="1200" dirty="0"/>
          </a:p>
        </p:txBody>
      </p:sp>
      <p:sp>
        <p:nvSpPr>
          <p:cNvPr id="19" name="Text 9"/>
          <p:cNvSpPr/>
          <p:nvPr>
            <p:ph idx="117" type="body" hasCustomPrompt="1"/>
          </p:nvPr>
        </p:nvSpPr>
        <p:spPr>
          <a:xfrm>
            <a:off x="2606040" y="3886200"/>
            <a:ext cx="173736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140" kern="0" dirty="0">
                <a:solidFill>
                  <a:srgbClr val="90849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140" kern="0" dirty="0">
                <a:solidFill>
                  <a:srgbClr val="90849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COMPLEXITY</a:t>
            </a:r>
            <a:endParaRPr lang="en-US" sz="900" dirty="0"/>
          </a:p>
        </p:txBody>
      </p:sp>
      <p:sp>
        <p:nvSpPr>
          <p:cNvPr id="20" name="Text 9"/>
          <p:cNvSpPr/>
          <p:nvPr>
            <p:ph idx="118" type="body" hasCustomPrompt="1"/>
          </p:nvPr>
        </p:nvSpPr>
        <p:spPr>
          <a:xfrm>
            <a:off x="2606040" y="4133088"/>
            <a:ext cx="17373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Low · Mid · High</a:t>
            </a:r>
            <a:endParaRPr lang="en-US" sz="1200" dirty="0"/>
          </a:p>
        </p:txBody>
      </p:sp>
      <p:sp>
        <p:nvSpPr>
          <p:cNvPr id="21" name="Text 9"/>
          <p:cNvSpPr/>
          <p:nvPr>
            <p:ph idx="119" type="body" hasCustomPrompt="1"/>
          </p:nvPr>
        </p:nvSpPr>
        <p:spPr>
          <a:xfrm>
            <a:off x="4480560" y="3886200"/>
            <a:ext cx="164592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140" kern="0" dirty="0">
                <a:solidFill>
                  <a:srgbClr val="90849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140" kern="0" dirty="0">
                <a:solidFill>
                  <a:srgbClr val="90849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ROLE</a:t>
            </a:r>
            <a:endParaRPr lang="en-US" sz="900" dirty="0"/>
          </a:p>
        </p:txBody>
      </p:sp>
      <p:sp>
        <p:nvSpPr>
          <p:cNvPr id="22" name="Text 9"/>
          <p:cNvSpPr/>
          <p:nvPr>
            <p:ph idx="120" type="body" hasCustomPrompt="1"/>
          </p:nvPr>
        </p:nvSpPr>
        <p:spPr>
          <a:xfrm>
            <a:off x="4480560" y="4133088"/>
            <a:ext cx="16459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Design · build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BB7B7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10858" cy="5486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Shape 1"/>
          <p:cNvSpPr/>
          <p:nvPr/>
        </p:nvSpPr>
        <p:spPr>
          <a:xfrm>
            <a:off x="1306286" y="0"/>
            <a:ext cx="1310858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Shape 2"/>
          <p:cNvSpPr/>
          <p:nvPr/>
        </p:nvSpPr>
        <p:spPr>
          <a:xfrm>
            <a:off x="2612571" y="0"/>
            <a:ext cx="1310858" cy="5486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3918857" y="0"/>
            <a:ext cx="1310858" cy="5486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" name="Shape 4"/>
          <p:cNvSpPr/>
          <p:nvPr/>
        </p:nvSpPr>
        <p:spPr>
          <a:xfrm>
            <a:off x="5225143" y="0"/>
            <a:ext cx="1310858" cy="5486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7" name="Shape 5"/>
          <p:cNvSpPr/>
          <p:nvPr/>
        </p:nvSpPr>
        <p:spPr>
          <a:xfrm>
            <a:off x="6531429" y="0"/>
            <a:ext cx="1310858" cy="5486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8" name="Shape 6"/>
          <p:cNvSpPr/>
          <p:nvPr/>
        </p:nvSpPr>
        <p:spPr>
          <a:xfrm>
            <a:off x="7837714" y="0"/>
            <a:ext cx="1310858" cy="5486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1097280"/>
            <a:ext cx="0" cy="2697480"/>
          </a:xfrm>
          <a:prstGeom prst="line">
            <a:avLst/>
          </a:prstGeom>
          <a:noFill/>
          <a:ln w="50800">
            <a:solidFill>
              <a:schemeClr val="tx1"/>
            </a:solidFill>
            <a:prstDash val="solid"/>
          </a:ln>
        </p:spPr>
      </p:sp>
      <p:sp>
        <p:nvSpPr>
          <p:cNvPr id="10" name="Text 8"/>
          <p:cNvSpPr/>
          <p:nvPr>
            <p:ph idx="108" type="body" hasCustomPrompt="1"/>
          </p:nvPr>
        </p:nvSpPr>
        <p:spPr>
          <a:xfrm>
            <a:off x="1325880" y="1051560"/>
            <a:ext cx="7040880" cy="2423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en-US" sz="22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 sentence worth stopping on.</a:t>
            </a:r>
            <a:endParaRPr lang="en-US" sz="2200" dirty="0"/>
          </a:p>
        </p:txBody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1325880" y="3566160"/>
            <a:ext cx="704088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— who said it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48640" y="4727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0849C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Annabel Lee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BB7B7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number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10858" cy="5486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Shape 1"/>
          <p:cNvSpPr/>
          <p:nvPr/>
        </p:nvSpPr>
        <p:spPr>
          <a:xfrm>
            <a:off x="1306286" y="0"/>
            <a:ext cx="1310858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Shape 2"/>
          <p:cNvSpPr/>
          <p:nvPr/>
        </p:nvSpPr>
        <p:spPr>
          <a:xfrm>
            <a:off x="2612571" y="0"/>
            <a:ext cx="1310858" cy="5486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3918857" y="0"/>
            <a:ext cx="1310858" cy="5486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" name="Shape 4"/>
          <p:cNvSpPr/>
          <p:nvPr/>
        </p:nvSpPr>
        <p:spPr>
          <a:xfrm>
            <a:off x="5225143" y="0"/>
            <a:ext cx="1310858" cy="5486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7" name="Shape 5"/>
          <p:cNvSpPr/>
          <p:nvPr/>
        </p:nvSpPr>
        <p:spPr>
          <a:xfrm>
            <a:off x="6531429" y="0"/>
            <a:ext cx="1310858" cy="5486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8" name="Shape 6"/>
          <p:cNvSpPr/>
          <p:nvPr/>
        </p:nvSpPr>
        <p:spPr>
          <a:xfrm>
            <a:off x="7837714" y="0"/>
            <a:ext cx="1310858" cy="5486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9" name="Text 7"/>
          <p:cNvSpPr/>
          <p:nvPr>
            <p:ph idx="107" type="body" hasCustomPrompt="1"/>
          </p:nvPr>
        </p:nvSpPr>
        <p:spPr>
          <a:xfrm>
            <a:off x="548640" y="347472"/>
            <a:ext cx="804672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120" kern="0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120" kern="0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SECTION LABEL</a:t>
            </a:r>
            <a:endParaRPr lang="en-US" sz="1000" dirty="0"/>
          </a:p>
        </p:txBody>
      </p:sp>
      <p:sp>
        <p:nvSpPr>
          <p:cNvPr id="10" name="Text 7"/>
          <p:cNvSpPr/>
          <p:nvPr>
            <p:ph idx="108" type="title" hasCustomPrompt="1"/>
          </p:nvPr>
        </p:nvSpPr>
        <p:spPr>
          <a:xfrm>
            <a:off x="548640" y="585216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Slide title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548640" y="1508760"/>
            <a:ext cx="2560320" cy="2971800"/>
          </a:xfrm>
          <a:prstGeom prst="roundRect">
            <a:avLst>
              <a:gd name="adj" fmla="val 4643"/>
            </a:avLst>
          </a:prstGeom>
          <a:ln w="28575">
            <a:solidFill>
              <a:schemeClr val="bg2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>
            <p:ph idx="110" type="body" hasCustomPrompt="1"/>
          </p:nvPr>
        </p:nvSpPr>
        <p:spPr>
          <a:xfrm>
            <a:off x="749808" y="1664208"/>
            <a:ext cx="219456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accent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dirty="0">
                <a:solidFill>
                  <a:schemeClr val="accent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00</a:t>
            </a:r>
            <a:endParaRPr lang="en-US" sz="4000" dirty="0"/>
          </a:p>
        </p:txBody>
      </p:sp>
      <p:sp>
        <p:nvSpPr>
          <p:cNvPr id="13" name="Text 8"/>
          <p:cNvSpPr/>
          <p:nvPr>
            <p:ph idx="111" type="body" hasCustomPrompt="1"/>
          </p:nvPr>
        </p:nvSpPr>
        <p:spPr>
          <a:xfrm>
            <a:off x="749808" y="2788920"/>
            <a:ext cx="21945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120" kern="0" dirty="0">
                <a:solidFill>
                  <a:srgbClr val="90849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120" kern="0" dirty="0">
                <a:solidFill>
                  <a:srgbClr val="90849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LABEL</a:t>
            </a:r>
            <a:endParaRPr lang="en-US" sz="1000" dirty="0"/>
          </a:p>
        </p:txBody>
      </p:sp>
      <p:sp>
        <p:nvSpPr>
          <p:cNvPr id="14" name="Text 8"/>
          <p:cNvSpPr/>
          <p:nvPr>
            <p:ph idx="112" type="body" hasCustomPrompt="1"/>
          </p:nvPr>
        </p:nvSpPr>
        <p:spPr>
          <a:xfrm>
            <a:off x="749808" y="3108960"/>
            <a:ext cx="21945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en-US" sz="11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What the number means</a:t>
            </a:r>
            <a:endParaRPr lang="en-US" sz="1100" dirty="0"/>
          </a:p>
        </p:txBody>
      </p:sp>
      <p:sp>
        <p:nvSpPr>
          <p:cNvPr id="15" name="Text 8"/>
          <p:cNvSpPr/>
          <p:nvPr/>
        </p:nvSpPr>
        <p:spPr>
          <a:xfrm>
            <a:off x="3291840" y="1508760"/>
            <a:ext cx="2560320" cy="2971800"/>
          </a:xfrm>
          <a:prstGeom prst="roundRect">
            <a:avLst>
              <a:gd name="adj" fmla="val 4643"/>
            </a:avLst>
          </a:prstGeom>
          <a:ln w="28575">
            <a:solidFill>
              <a:schemeClr val="bg2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6" name="Text 9"/>
          <p:cNvSpPr/>
          <p:nvPr>
            <p:ph idx="114" type="body" hasCustomPrompt="1"/>
          </p:nvPr>
        </p:nvSpPr>
        <p:spPr>
          <a:xfrm>
            <a:off x="3493008" y="1664208"/>
            <a:ext cx="219456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accent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dirty="0">
                <a:solidFill>
                  <a:schemeClr val="accent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00</a:t>
            </a:r>
            <a:endParaRPr lang="en-US" sz="4000" dirty="0"/>
          </a:p>
        </p:txBody>
      </p:sp>
      <p:sp>
        <p:nvSpPr>
          <p:cNvPr id="17" name="Text 9"/>
          <p:cNvSpPr/>
          <p:nvPr>
            <p:ph idx="115" type="body" hasCustomPrompt="1"/>
          </p:nvPr>
        </p:nvSpPr>
        <p:spPr>
          <a:xfrm>
            <a:off x="3493008" y="2788920"/>
            <a:ext cx="21945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120" kern="0" dirty="0">
                <a:solidFill>
                  <a:srgbClr val="90849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120" kern="0" dirty="0">
                <a:solidFill>
                  <a:srgbClr val="90849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LABEL</a:t>
            </a:r>
            <a:endParaRPr lang="en-US" sz="1000" dirty="0"/>
          </a:p>
        </p:txBody>
      </p:sp>
      <p:sp>
        <p:nvSpPr>
          <p:cNvPr id="18" name="Text 9"/>
          <p:cNvSpPr/>
          <p:nvPr>
            <p:ph idx="116" type="body" hasCustomPrompt="1"/>
          </p:nvPr>
        </p:nvSpPr>
        <p:spPr>
          <a:xfrm>
            <a:off x="3493008" y="3108960"/>
            <a:ext cx="21945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en-US" sz="11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What the number means</a:t>
            </a:r>
            <a:endParaRPr lang="en-US" sz="1100" dirty="0"/>
          </a:p>
        </p:txBody>
      </p:sp>
      <p:sp>
        <p:nvSpPr>
          <p:cNvPr id="19" name="Text 9"/>
          <p:cNvSpPr/>
          <p:nvPr/>
        </p:nvSpPr>
        <p:spPr>
          <a:xfrm>
            <a:off x="6035040" y="1508760"/>
            <a:ext cx="2560320" cy="2971800"/>
          </a:xfrm>
          <a:prstGeom prst="roundRect">
            <a:avLst>
              <a:gd name="adj" fmla="val 4643"/>
            </a:avLst>
          </a:prstGeom>
          <a:ln w="28575">
            <a:solidFill>
              <a:schemeClr val="bg2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20" name="Text 10"/>
          <p:cNvSpPr/>
          <p:nvPr>
            <p:ph idx="118" type="body" hasCustomPrompt="1"/>
          </p:nvPr>
        </p:nvSpPr>
        <p:spPr>
          <a:xfrm>
            <a:off x="6236208" y="1664208"/>
            <a:ext cx="219456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accent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dirty="0">
                <a:solidFill>
                  <a:schemeClr val="accent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00</a:t>
            </a:r>
            <a:endParaRPr lang="en-US" sz="4000" dirty="0"/>
          </a:p>
        </p:txBody>
      </p:sp>
      <p:sp>
        <p:nvSpPr>
          <p:cNvPr id="21" name="Text 10"/>
          <p:cNvSpPr/>
          <p:nvPr>
            <p:ph idx="119" type="body" hasCustomPrompt="1"/>
          </p:nvPr>
        </p:nvSpPr>
        <p:spPr>
          <a:xfrm>
            <a:off x="6236208" y="2788920"/>
            <a:ext cx="21945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120" kern="0" dirty="0">
                <a:solidFill>
                  <a:srgbClr val="90849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120" kern="0" dirty="0">
                <a:solidFill>
                  <a:srgbClr val="90849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LABEL</a:t>
            </a:r>
            <a:endParaRPr lang="en-US" sz="1000" dirty="0"/>
          </a:p>
        </p:txBody>
      </p:sp>
      <p:sp>
        <p:nvSpPr>
          <p:cNvPr id="22" name="Text 10"/>
          <p:cNvSpPr/>
          <p:nvPr>
            <p:ph idx="120" type="body" hasCustomPrompt="1"/>
          </p:nvPr>
        </p:nvSpPr>
        <p:spPr>
          <a:xfrm>
            <a:off x="6236208" y="3108960"/>
            <a:ext cx="21945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en-US" sz="11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What the number means</a:t>
            </a:r>
            <a:endParaRPr lang="en-US" sz="1100" dirty="0"/>
          </a:p>
        </p:txBody>
      </p:sp>
      <p:sp>
        <p:nvSpPr>
          <p:cNvPr id="23" name="Text 10"/>
          <p:cNvSpPr/>
          <p:nvPr/>
        </p:nvSpPr>
        <p:spPr>
          <a:xfrm>
            <a:off x="548640" y="4727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0849C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Annabel Lee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BB7B7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g-coded a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10858" cy="5486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Shape 1"/>
          <p:cNvSpPr/>
          <p:nvPr/>
        </p:nvSpPr>
        <p:spPr>
          <a:xfrm>
            <a:off x="1306286" y="0"/>
            <a:ext cx="1310858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Shape 2"/>
          <p:cNvSpPr/>
          <p:nvPr/>
        </p:nvSpPr>
        <p:spPr>
          <a:xfrm>
            <a:off x="2612571" y="0"/>
            <a:ext cx="1310858" cy="5486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3918857" y="0"/>
            <a:ext cx="1310858" cy="5486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" name="Shape 4"/>
          <p:cNvSpPr/>
          <p:nvPr/>
        </p:nvSpPr>
        <p:spPr>
          <a:xfrm>
            <a:off x="5225143" y="0"/>
            <a:ext cx="1310858" cy="5486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7" name="Shape 5"/>
          <p:cNvSpPr/>
          <p:nvPr/>
        </p:nvSpPr>
        <p:spPr>
          <a:xfrm>
            <a:off x="6531429" y="0"/>
            <a:ext cx="1310858" cy="5486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8" name="Shape 6"/>
          <p:cNvSpPr/>
          <p:nvPr/>
        </p:nvSpPr>
        <p:spPr>
          <a:xfrm>
            <a:off x="7837714" y="0"/>
            <a:ext cx="1310858" cy="5486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9" name="Text 7"/>
          <p:cNvSpPr/>
          <p:nvPr>
            <p:ph idx="107" type="body" hasCustomPrompt="1"/>
          </p:nvPr>
        </p:nvSpPr>
        <p:spPr>
          <a:xfrm>
            <a:off x="548640" y="502920"/>
            <a:ext cx="292608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120" kern="0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120" kern="0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SECTION LABEL</a:t>
            </a:r>
            <a:endParaRPr lang="en-US" sz="1000" dirty="0"/>
          </a:p>
        </p:txBody>
      </p:sp>
      <p:sp>
        <p:nvSpPr>
          <p:cNvPr id="10" name="Text 7"/>
          <p:cNvSpPr/>
          <p:nvPr>
            <p:ph idx="108" type="title" hasCustomPrompt="1"/>
          </p:nvPr>
        </p:nvSpPr>
        <p:spPr>
          <a:xfrm>
            <a:off x="548640" y="777240"/>
            <a:ext cx="29260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Agenda</a:t>
            </a:r>
            <a:endParaRPr lang="en-US" sz="3000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548640" y="2286000"/>
            <a:ext cx="283464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en-US" sz="12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 short framing line.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3931920" y="502920"/>
            <a:ext cx="566928" cy="420624"/>
          </a:xfrm>
          <a:prstGeom prst="roundRect">
            <a:avLst>
              <a:gd name="adj" fmla="val 1304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8"/>
          <p:cNvSpPr/>
          <p:nvPr>
            <p:ph idx="111" type="body" hasCustomPrompt="1"/>
          </p:nvPr>
        </p:nvSpPr>
        <p:spPr>
          <a:xfrm>
            <a:off x="4681728" y="502920"/>
            <a:ext cx="393192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Item — Theater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3931920" y="1188720"/>
            <a:ext cx="566928" cy="420624"/>
          </a:xfrm>
          <a:prstGeom prst="roundRect">
            <a:avLst>
              <a:gd name="adj" fmla="val 13043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9"/>
          <p:cNvSpPr/>
          <p:nvPr>
            <p:ph idx="113" type="body" hasCustomPrompt="1"/>
          </p:nvPr>
        </p:nvSpPr>
        <p:spPr>
          <a:xfrm>
            <a:off x="4681728" y="1188720"/>
            <a:ext cx="393192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Item — Embedded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3931920" y="1874520"/>
            <a:ext cx="566928" cy="420624"/>
          </a:xfrm>
          <a:prstGeom prst="roundRect">
            <a:avLst>
              <a:gd name="adj" fmla="val 13043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0"/>
          <p:cNvSpPr/>
          <p:nvPr>
            <p:ph idx="115" type="body" hasCustomPrompt="1"/>
          </p:nvPr>
        </p:nvSpPr>
        <p:spPr>
          <a:xfrm>
            <a:off x="4681728" y="1874520"/>
            <a:ext cx="393192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Item — DSP</a:t>
            </a:r>
            <a:endParaRPr lang="en-US" sz="1600" dirty="0"/>
          </a:p>
        </p:txBody>
      </p:sp>
      <p:sp>
        <p:nvSpPr>
          <p:cNvPr id="18" name="Text 10"/>
          <p:cNvSpPr/>
          <p:nvPr/>
        </p:nvSpPr>
        <p:spPr>
          <a:xfrm>
            <a:off x="3931920" y="2560320"/>
            <a:ext cx="566928" cy="420624"/>
          </a:xfrm>
          <a:prstGeom prst="roundRect">
            <a:avLst>
              <a:gd name="adj" fmla="val 13043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1"/>
          <p:cNvSpPr/>
          <p:nvPr>
            <p:ph idx="117" type="body" hasCustomPrompt="1"/>
          </p:nvPr>
        </p:nvSpPr>
        <p:spPr>
          <a:xfrm>
            <a:off x="4681728" y="2560320"/>
            <a:ext cx="393192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Item — PCB Design</a:t>
            </a:r>
            <a:endParaRPr lang="en-US" sz="1600" dirty="0"/>
          </a:p>
        </p:txBody>
      </p:sp>
      <p:sp>
        <p:nvSpPr>
          <p:cNvPr id="20" name="Text 11"/>
          <p:cNvSpPr/>
          <p:nvPr/>
        </p:nvSpPr>
        <p:spPr>
          <a:xfrm>
            <a:off x="3931920" y="3246120"/>
            <a:ext cx="566928" cy="420624"/>
          </a:xfrm>
          <a:prstGeom prst="roundRect">
            <a:avLst>
              <a:gd name="adj" fmla="val 13043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2"/>
          <p:cNvSpPr/>
          <p:nvPr>
            <p:ph idx="119" type="body" hasCustomPrompt="1"/>
          </p:nvPr>
        </p:nvSpPr>
        <p:spPr>
          <a:xfrm>
            <a:off x="4681728" y="3246120"/>
            <a:ext cx="393192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Item — Fabrication</a:t>
            </a:r>
            <a:endParaRPr lang="en-US" sz="1600" dirty="0"/>
          </a:p>
        </p:txBody>
      </p:sp>
      <p:sp>
        <p:nvSpPr>
          <p:cNvPr id="22" name="Text 12"/>
          <p:cNvSpPr/>
          <p:nvPr/>
        </p:nvSpPr>
        <p:spPr>
          <a:xfrm>
            <a:off x="3931920" y="3931920"/>
            <a:ext cx="566928" cy="420624"/>
          </a:xfrm>
          <a:prstGeom prst="roundRect">
            <a:avLst>
              <a:gd name="adj" fmla="val 13043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06</a:t>
            </a:r>
            <a:endParaRPr lang="en-US" sz="1200" dirty="0"/>
          </a:p>
        </p:txBody>
      </p:sp>
      <p:sp>
        <p:nvSpPr>
          <p:cNvPr id="23" name="Text 13"/>
          <p:cNvSpPr/>
          <p:nvPr>
            <p:ph idx="121" type="body" hasCustomPrompt="1"/>
          </p:nvPr>
        </p:nvSpPr>
        <p:spPr>
          <a:xfrm>
            <a:off x="468172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Item — CS</a:t>
            </a:r>
            <a:endParaRPr lang="en-US" sz="1600" dirty="0"/>
          </a:p>
        </p:txBody>
      </p:sp>
      <p:sp>
        <p:nvSpPr>
          <p:cNvPr id="24" name="Text 13"/>
          <p:cNvSpPr/>
          <p:nvPr/>
        </p:nvSpPr>
        <p:spPr>
          <a:xfrm>
            <a:off x="548640" y="4727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0849C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Annabel Lee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BB7B7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10858" cy="5486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Shape 1"/>
          <p:cNvSpPr/>
          <p:nvPr/>
        </p:nvSpPr>
        <p:spPr>
          <a:xfrm>
            <a:off x="1306286" y="0"/>
            <a:ext cx="1310858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Shape 2"/>
          <p:cNvSpPr/>
          <p:nvPr/>
        </p:nvSpPr>
        <p:spPr>
          <a:xfrm>
            <a:off x="2612571" y="0"/>
            <a:ext cx="1310858" cy="5486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3918857" y="0"/>
            <a:ext cx="1310858" cy="5486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" name="Shape 4"/>
          <p:cNvSpPr/>
          <p:nvPr/>
        </p:nvSpPr>
        <p:spPr>
          <a:xfrm>
            <a:off x="5225143" y="0"/>
            <a:ext cx="1310858" cy="5486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7" name="Shape 5"/>
          <p:cNvSpPr/>
          <p:nvPr/>
        </p:nvSpPr>
        <p:spPr>
          <a:xfrm>
            <a:off x="6531429" y="0"/>
            <a:ext cx="1310858" cy="5486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8" name="Shape 6"/>
          <p:cNvSpPr/>
          <p:nvPr/>
        </p:nvSpPr>
        <p:spPr>
          <a:xfrm>
            <a:off x="7837714" y="0"/>
            <a:ext cx="1310858" cy="5486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9" name="Text 7"/>
          <p:cNvSpPr/>
          <p:nvPr>
            <p:ph idx="107" type="body" hasCustomPrompt="1"/>
          </p:nvPr>
        </p:nvSpPr>
        <p:spPr>
          <a:xfrm>
            <a:off x="548640" y="347472"/>
            <a:ext cx="804672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120" kern="0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120" kern="0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SECTION LABEL</a:t>
            </a:r>
            <a:endParaRPr lang="en-US" sz="1000" dirty="0"/>
          </a:p>
        </p:txBody>
      </p:sp>
      <p:sp>
        <p:nvSpPr>
          <p:cNvPr id="10" name="Text 7"/>
          <p:cNvSpPr/>
          <p:nvPr>
            <p:ph idx="108" type="title" hasCustomPrompt="1"/>
          </p:nvPr>
        </p:nvSpPr>
        <p:spPr>
          <a:xfrm>
            <a:off x="548640" y="585216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Slide title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548640" y="4727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0849C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Annabel Lee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BB7B7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91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91840"/>
            <a:ext cx="1310858" cy="6400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1306286" y="3291840"/>
            <a:ext cx="1310858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Shape 3"/>
          <p:cNvSpPr/>
          <p:nvPr/>
        </p:nvSpPr>
        <p:spPr>
          <a:xfrm>
            <a:off x="2612571" y="3291840"/>
            <a:ext cx="1310858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3918857" y="3291840"/>
            <a:ext cx="1310858" cy="6400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7" name="Shape 5"/>
          <p:cNvSpPr/>
          <p:nvPr/>
        </p:nvSpPr>
        <p:spPr>
          <a:xfrm>
            <a:off x="5225143" y="3291840"/>
            <a:ext cx="1310858" cy="6400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8" name="Shape 6"/>
          <p:cNvSpPr/>
          <p:nvPr/>
        </p:nvSpPr>
        <p:spPr>
          <a:xfrm>
            <a:off x="6531429" y="3291840"/>
            <a:ext cx="1310858" cy="6400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9" name="Shape 7"/>
          <p:cNvSpPr/>
          <p:nvPr/>
        </p:nvSpPr>
        <p:spPr>
          <a:xfrm>
            <a:off x="7837714" y="3291840"/>
            <a:ext cx="1310858" cy="6400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0" name="Text 8"/>
          <p:cNvSpPr/>
          <p:nvPr>
            <p:ph idx="108" type="title" hasCustomPrompt="1"/>
          </p:nvPr>
        </p:nvSpPr>
        <p:spPr>
          <a:xfrm>
            <a:off x="457200" y="685800"/>
            <a:ext cx="822960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6000" dirty="0">
                <a:solidFill>
                  <a:srgbClr val="FAF9F9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6000" dirty="0">
                <a:solidFill>
                  <a:srgbClr val="FAF9F9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300" dirty="0">
                <a:solidFill>
                  <a:srgbClr val="2D2046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300" dirty="0">
                <a:solidFill>
                  <a:srgbClr val="2D2046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Questions, notes, ideas</a:t>
            </a:r>
            <a:endParaRPr lang="en-US" sz="1300" dirty="0"/>
          </a:p>
        </p:txBody>
      </p:sp>
      <p:sp>
        <p:nvSpPr>
          <p:cNvPr id="12" name="Text 8"/>
          <p:cNvSpPr/>
          <p:nvPr>
            <p:ph idx="110" type="body" hasCustomPrompt="1"/>
          </p:nvPr>
        </p:nvSpPr>
        <p:spPr>
          <a:xfrm>
            <a:off x="548640" y="3703320"/>
            <a:ext cx="804672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b="1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please hire me :)</a:t>
            </a:r>
            <a:endParaRPr lang="en-US" sz="1500" dirty="0"/>
          </a:p>
        </p:txBody>
      </p:sp>
      <p:sp>
        <p:nvSpPr>
          <p:cNvPr id="13" name="Text 8"/>
          <p:cNvSpPr/>
          <p:nvPr>
            <p:ph idx="111" type="body" hasCustomPrompt="1"/>
          </p:nvPr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ABB7B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ABB7B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email · site · github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10858" cy="5486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Shape 1"/>
          <p:cNvSpPr/>
          <p:nvPr/>
        </p:nvSpPr>
        <p:spPr>
          <a:xfrm>
            <a:off x="1306286" y="0"/>
            <a:ext cx="1310858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Shape 2"/>
          <p:cNvSpPr/>
          <p:nvPr/>
        </p:nvSpPr>
        <p:spPr>
          <a:xfrm>
            <a:off x="2612571" y="0"/>
            <a:ext cx="1310858" cy="5486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3918857" y="0"/>
            <a:ext cx="1310858" cy="5486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" name="Shape 4"/>
          <p:cNvSpPr/>
          <p:nvPr/>
        </p:nvSpPr>
        <p:spPr>
          <a:xfrm>
            <a:off x="5225143" y="0"/>
            <a:ext cx="1310858" cy="5486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7" name="Shape 5"/>
          <p:cNvSpPr/>
          <p:nvPr/>
        </p:nvSpPr>
        <p:spPr>
          <a:xfrm>
            <a:off x="6531429" y="0"/>
            <a:ext cx="1310858" cy="5486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8" name="Shape 6"/>
          <p:cNvSpPr/>
          <p:nvPr/>
        </p:nvSpPr>
        <p:spPr>
          <a:xfrm>
            <a:off x="7837714" y="0"/>
            <a:ext cx="1310858" cy="5486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5088636"/>
            <a:ext cx="1310858" cy="5486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Shape 8"/>
          <p:cNvSpPr/>
          <p:nvPr/>
        </p:nvSpPr>
        <p:spPr>
          <a:xfrm>
            <a:off x="1306286" y="5088636"/>
            <a:ext cx="1310858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Shape 9"/>
          <p:cNvSpPr/>
          <p:nvPr/>
        </p:nvSpPr>
        <p:spPr>
          <a:xfrm>
            <a:off x="2612571" y="5088636"/>
            <a:ext cx="1310858" cy="5486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2" name="Shape 10"/>
          <p:cNvSpPr/>
          <p:nvPr/>
        </p:nvSpPr>
        <p:spPr>
          <a:xfrm>
            <a:off x="3918857" y="5088636"/>
            <a:ext cx="1310858" cy="5486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3" name="Shape 11"/>
          <p:cNvSpPr/>
          <p:nvPr/>
        </p:nvSpPr>
        <p:spPr>
          <a:xfrm>
            <a:off x="5225143" y="5088636"/>
            <a:ext cx="1310858" cy="5486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4" name="Shape 12"/>
          <p:cNvSpPr/>
          <p:nvPr/>
        </p:nvSpPr>
        <p:spPr>
          <a:xfrm>
            <a:off x="6531429" y="5088636"/>
            <a:ext cx="1310858" cy="5486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5" name="Shape 13"/>
          <p:cNvSpPr/>
          <p:nvPr/>
        </p:nvSpPr>
        <p:spPr>
          <a:xfrm>
            <a:off x="7837714" y="5088636"/>
            <a:ext cx="1310858" cy="54864"/>
          </a:xfrm>
          <a:prstGeom prst="rect">
            <a:avLst/>
          </a:prstGeom>
          <a:solidFill>
            <a:schemeClr val="accent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BB7B7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8"/>
          <p:cNvSpPr/>
          <p:nvPr>
            <p:ph idx="108" type="title" hasCustomPrompt="1"/>
          </p:nvPr>
        </p:nvSpPr>
        <p:spPr>
          <a:xfrm>
            <a:off x="457200" y="457200"/>
            <a:ext cx="8229600" cy="1508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FAF9F9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Annabel Lee</a:t>
            </a:r>
            <a:endParaRPr lang="en-US" sz="5400" dirty="0"/>
          </a:p>
        </p:txBody>
      </p:sp>
      <p:sp>
        <p:nvSpPr>
          <p:cNvPr id="3" name="Text 8"/>
          <p:cNvSpPr/>
          <p:nvPr>
            <p:ph idx="109" type="body" hasCustomPrompt="1"/>
          </p:nvPr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2046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Electrical Engineering for Theater</a:t>
            </a:r>
            <a:endParaRPr lang="en-US" sz="1300" dirty="0"/>
          </a:p>
        </p:txBody>
      </p:sp>
      <p:sp>
        <p:nvSpPr>
          <p:cNvPr id="4" name="Text 9"/>
          <p:cNvSpPr/>
          <p:nvPr>
            <p:ph idx="111" type="body" hasCustomPrompt="1"/>
          </p:nvPr>
        </p:nvSpPr>
        <p:spPr>
          <a:xfrm>
            <a:off x="822960" y="3721608"/>
            <a:ext cx="237744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90849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5" name="Text 9"/>
          <p:cNvSpPr/>
          <p:nvPr>
            <p:ph idx="112" type="body" hasCustomPrompt="1"/>
          </p:nvPr>
        </p:nvSpPr>
        <p:spPr>
          <a:xfrm>
            <a:off x="822960" y="3968496"/>
            <a:ext cx="23774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Annabel Lee</a:t>
            </a:r>
            <a:endParaRPr lang="en-US" sz="1200" dirty="0"/>
          </a:p>
        </p:txBody>
      </p:sp>
      <p:sp>
        <p:nvSpPr>
          <p:cNvPr id="6" name="Text 9"/>
          <p:cNvSpPr/>
          <p:nvPr>
            <p:ph idx="113" type="body" hasCustomPrompt="1"/>
          </p:nvPr>
        </p:nvSpPr>
        <p:spPr>
          <a:xfrm>
            <a:off x="3520440" y="3721608"/>
            <a:ext cx="237744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90849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DATE</a:t>
            </a:r>
            <a:endParaRPr lang="en-US" sz="900" dirty="0"/>
          </a:p>
        </p:txBody>
      </p:sp>
      <p:sp>
        <p:nvSpPr>
          <p:cNvPr id="7" name="Text 9"/>
          <p:cNvSpPr/>
          <p:nvPr>
            <p:ph idx="114" type="body" hasCustomPrompt="1"/>
          </p:nvPr>
        </p:nvSpPr>
        <p:spPr>
          <a:xfrm>
            <a:off x="3520440" y="3968496"/>
            <a:ext cx="23774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October 2026</a:t>
            </a:r>
            <a:endParaRPr lang="en-US" sz="1200" dirty="0"/>
          </a:p>
        </p:txBody>
      </p:sp>
      <p:sp>
        <p:nvSpPr>
          <p:cNvPr id="8" name="Text 9"/>
          <p:cNvSpPr/>
          <p:nvPr>
            <p:ph idx="115" type="body" hasCustomPrompt="1"/>
          </p:nvPr>
        </p:nvSpPr>
        <p:spPr>
          <a:xfrm>
            <a:off x="6217920" y="3721608"/>
            <a:ext cx="237744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90849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CONTEXT</a:t>
            </a:r>
            <a:endParaRPr lang="en-US" sz="900" dirty="0"/>
          </a:p>
        </p:txBody>
      </p:sp>
      <p:sp>
        <p:nvSpPr>
          <p:cNvPr id="9" name="Text 9"/>
          <p:cNvSpPr/>
          <p:nvPr>
            <p:ph idx="116" type="body" hasCustomPrompt="1"/>
          </p:nvPr>
        </p:nvSpPr>
        <p:spPr>
          <a:xfrm>
            <a:off x="6217920" y="3968496"/>
            <a:ext cx="23774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Portfolio review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94360"/>
            <a:ext cx="3657600" cy="1737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l" indent="0" marL="0">
              <a:buNone/>
            </a:pPr>
            <a:r>
              <a:rPr lang="en-US" sz="8800" dirty="0">
                <a:solidFill>
                  <a:srgbClr val="FAF9F9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01</a:t>
            </a:r>
            <a:endParaRPr lang="en-US" sz="8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468880"/>
            <a:ext cx="804672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2D2046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Wearables that light the stage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80467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D2046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abLED costumes, from breadboard to curtain call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548640" y="347472"/>
            <a:ext cx="80467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APPROACH</a:t>
            </a:r>
            <a:endParaRPr lang="en-US" sz="10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548640" y="585216"/>
            <a:ext cx="80467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Engineering in service of the story</a:t>
            </a:r>
            <a:endParaRPr lang="en-US" sz="2600" dirty="0"/>
          </a:p>
        </p:txBody>
      </p:sp>
      <p:sp>
        <p:nvSpPr>
          <p:cNvPr id="4" name="Text 7"/>
          <p:cNvSpPr/>
          <p:nvPr>
            <p:ph idx="109" type="body" hasCustomPrompt="1"/>
          </p:nvPr>
        </p:nvSpPr>
        <p:spPr>
          <a:xfrm>
            <a:off x="548640" y="1463040"/>
            <a:ext cx="8046720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Start from the scene: what should the audience feel?</a:t>
            </a:r>
            <a:endParaRPr lang="en-US" sz="1400" dirty="0"/>
          </a:p>
          <a:p>
            <a:pPr algn="l"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Build hardware that survives eight shows a week</a:t>
            </a:r>
            <a:endParaRPr lang="en-US" sz="1400" dirty="0"/>
          </a:p>
          <a:p>
            <a:pPr algn="l"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Hand the controls to the operator, not the engineer</a:t>
            </a:r>
            <a:endParaRPr lang="en-US" sz="1400" dirty="0"/>
          </a:p>
        </p:txBody>
      </p:sp>
      <p:sp>
        <p:nvSpPr>
          <p:cNvPr id="5" name="badge Theater"/>
          <p:cNvSpPr/>
          <p:nvPr/>
        </p:nvSpPr>
        <p:spPr>
          <a:xfrm>
            <a:off x="548640" y="3977640"/>
            <a:ext cx="754380" cy="27432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Theater</a:t>
            </a:r>
            <a:endParaRPr lang="en-US" sz="900" dirty="0"/>
          </a:p>
        </p:txBody>
      </p:sp>
      <p:sp>
        <p:nvSpPr>
          <p:cNvPr id="6" name="badge Embedded"/>
          <p:cNvSpPr/>
          <p:nvPr/>
        </p:nvSpPr>
        <p:spPr>
          <a:xfrm>
            <a:off x="1376172" y="3977640"/>
            <a:ext cx="841248" cy="27432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Embedded</a:t>
            </a:r>
            <a:endParaRPr lang="en-US" sz="900" dirty="0"/>
          </a:p>
        </p:txBody>
      </p:sp>
      <p:sp>
        <p:nvSpPr>
          <p:cNvPr id="7" name="badge PCB Design"/>
          <p:cNvSpPr/>
          <p:nvPr/>
        </p:nvSpPr>
        <p:spPr>
          <a:xfrm>
            <a:off x="2290572" y="3977640"/>
            <a:ext cx="1014984" cy="27432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PCB Design</a:t>
            </a:r>
            <a:endParaRPr lang="en-US" sz="900" dirty="0"/>
          </a:p>
        </p:txBody>
      </p:sp>
      <p:sp>
        <p:nvSpPr>
          <p:cNvPr id="8" name="badge Fabrication"/>
          <p:cNvSpPr/>
          <p:nvPr/>
        </p:nvSpPr>
        <p:spPr>
          <a:xfrm>
            <a:off x="3378708" y="3977640"/>
            <a:ext cx="1101852" cy="27432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Fabrication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BB7B7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548640" y="347472"/>
            <a:ext cx="80467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THE BRIEF</a:t>
            </a:r>
            <a:endParaRPr lang="en-US" sz="10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548640" y="585216"/>
            <a:ext cx="80467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Two audiences, one costume</a:t>
            </a:r>
            <a:endParaRPr lang="en-US" sz="2600" dirty="0"/>
          </a:p>
        </p:txBody>
      </p:sp>
      <p:sp>
        <p:nvSpPr>
          <p:cNvPr id="4" name="Text 8"/>
          <p:cNvSpPr/>
          <p:nvPr>
            <p:ph idx="110" type="body" hasCustomPrompt="1"/>
          </p:nvPr>
        </p:nvSpPr>
        <p:spPr>
          <a:xfrm>
            <a:off x="804672" y="1645920"/>
            <a:ext cx="34290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What the stage asks for</a:t>
            </a:r>
            <a:endParaRPr lang="en-US" sz="1600" dirty="0"/>
          </a:p>
        </p:txBody>
      </p:sp>
      <p:sp>
        <p:nvSpPr>
          <p:cNvPr id="5" name="Text 8"/>
          <p:cNvSpPr/>
          <p:nvPr>
            <p:ph idx="111" type="body" hasCustomPrompt="1"/>
          </p:nvPr>
        </p:nvSpPr>
        <p:spPr>
          <a:xfrm>
            <a:off x="804672" y="2121408"/>
            <a:ext cx="342900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177800" indent="-1778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Reads from the back row</a:t>
            </a:r>
            <a:endParaRPr lang="en-US" sz="1300" dirty="0"/>
          </a:p>
          <a:p>
            <a:pPr algn="l" marL="177800" indent="-1778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Silent, cool, invisible</a:t>
            </a:r>
            <a:endParaRPr lang="en-US" sz="1300" dirty="0"/>
          </a:p>
          <a:p>
            <a:pPr algn="l" marL="177800" indent="-1778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Cue-accurate, every night</a:t>
            </a:r>
            <a:endParaRPr lang="en-US" sz="1300" dirty="0"/>
          </a:p>
        </p:txBody>
      </p:sp>
      <p:sp>
        <p:nvSpPr>
          <p:cNvPr id="6" name="Text 9"/>
          <p:cNvSpPr/>
          <p:nvPr>
            <p:ph idx="113" type="body" hasCustomPrompt="1"/>
          </p:nvPr>
        </p:nvSpPr>
        <p:spPr>
          <a:xfrm>
            <a:off x="4919472" y="1645920"/>
            <a:ext cx="34290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What the circuit delivers</a:t>
            </a:r>
            <a:endParaRPr lang="en-US" sz="1600" dirty="0"/>
          </a:p>
        </p:txBody>
      </p:sp>
      <p:sp>
        <p:nvSpPr>
          <p:cNvPr id="7" name="Text 9"/>
          <p:cNvSpPr/>
          <p:nvPr>
            <p:ph idx="114" type="body" hasCustomPrompt="1"/>
          </p:nvPr>
        </p:nvSpPr>
        <p:spPr>
          <a:xfrm>
            <a:off x="4919472" y="2121408"/>
            <a:ext cx="342900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177800" indent="-1778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144 addressable LEDs</a:t>
            </a:r>
            <a:endParaRPr lang="en-US" sz="1300" dirty="0"/>
          </a:p>
          <a:p>
            <a:pPr algn="l" marL="177800" indent="-1778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Wireless OSC cues</a:t>
            </a:r>
            <a:endParaRPr lang="en-US" sz="1300" dirty="0"/>
          </a:p>
          <a:p>
            <a:pPr algn="l" marL="177800" indent="-1778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 battery that lasts Act II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BB7B7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548640" y="457200"/>
            <a:ext cx="28346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ABLED V1</a:t>
            </a:r>
            <a:endParaRPr lang="en-US" sz="10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548640" y="713232"/>
            <a:ext cx="283464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Costume lighting, sewn in</a:t>
            </a:r>
            <a:endParaRPr lang="en-US" sz="2400" dirty="0"/>
          </a:p>
        </p:txBody>
      </p:sp>
      <p:sp>
        <p:nvSpPr>
          <p:cNvPr id="4" name="Text 7"/>
          <p:cNvSpPr/>
          <p:nvPr>
            <p:ph idx="109" type="body" hasCustomPrompt="1"/>
          </p:nvPr>
        </p:nvSpPr>
        <p:spPr>
          <a:xfrm>
            <a:off x="548640" y="2011680"/>
            <a:ext cx="2788920" cy="251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The first wearable: an LED cuff driven by a microcontroller hidden in the sleeve, cued from the booth.</a:t>
            </a:r>
            <a:endParaRPr lang="en-US" sz="1200" dirty="0"/>
          </a:p>
        </p:txBody>
      </p:sp>
      <p:pic>
        <p:nvPicPr>
          <p:cNvPr id="5" name="Image 0" descr="/home/user/Annabel_Portfolio/_slide-themes/.cache/photos/abled_wrist.jpg">    </p:cNvPr>
          <p:cNvPicPr>
            <a:picLocks noChangeAspect="1"/>
          </p:cNvPicPr>
          <p:nvPr>
            <p:ph idx="111" hasCustomPrompt="1"/>
          </p:nvPr>
        </p:nvPicPr>
        <p:blipFill>
          <a:blip r:embed="rId1"/>
          <a:srcRect l="0" r="0" t="0" b="0"/>
          <a:stretch/>
        </p:blipFill>
        <p:spPr>
          <a:xfrm>
            <a:off x="3648456" y="448056"/>
            <a:ext cx="5001768" cy="3639312"/>
          </a:xfrm>
          <a:prstGeom prst="rect">
            <a:avLst/>
          </a:prstGeom>
        </p:spPr>
      </p:pic>
      <p:sp>
        <p:nvSpPr>
          <p:cNvPr id="6" name="Text 10"/>
          <p:cNvSpPr/>
          <p:nvPr>
            <p:ph idx="114" type="body" hasCustomPrompt="1"/>
          </p:nvPr>
        </p:nvSpPr>
        <p:spPr>
          <a:xfrm>
            <a:off x="3840480" y="4206240"/>
            <a:ext cx="9601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Fig. 01 —</a:t>
            </a:r>
            <a:endParaRPr lang="en-US" sz="1100" dirty="0"/>
          </a:p>
        </p:txBody>
      </p:sp>
      <p:sp>
        <p:nvSpPr>
          <p:cNvPr id="7" name="Text 10"/>
          <p:cNvSpPr/>
          <p:nvPr>
            <p:ph idx="115" type="body" hasCustomPrompt="1"/>
          </p:nvPr>
        </p:nvSpPr>
        <p:spPr>
          <a:xfrm>
            <a:off x="4773168" y="4206240"/>
            <a:ext cx="3749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abLED cuff during tech rehearsal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BB7B7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nnabel_Portfolio/_slide-themes/.cache/photos/good.jpg">    </p:cNvPr>
          <p:cNvPicPr>
            <a:picLocks noChangeAspect="1"/>
          </p:cNvPicPr>
          <p:nvPr>
            <p:ph idx="100" hasCustomPrompt="1"/>
          </p:nvPr>
        </p:nvPicPr>
        <p:blipFill>
          <a:blip r:embed="rId1"/>
          <a:srcRect l="0" r="0" t="0" b="0"/>
          <a:stretch/>
        </p:blipFill>
        <p:spPr>
          <a:xfrm>
            <a:off x="228600" y="228600"/>
            <a:ext cx="4206240" cy="4686300"/>
          </a:xfrm>
          <a:prstGeom prst="rect">
            <a:avLst/>
          </a:prstGeom>
        </p:spPr>
      </p:pic>
      <p:pic>
        <p:nvPicPr>
          <p:cNvPr id="3" name="Image 1" descr="/home/user/Annabel_Portfolio/_slide-themes/.cache/photos/abled5.jpg">    </p:cNvPr>
          <p:cNvPicPr>
            <a:picLocks noChangeAspect="1"/>
          </p:cNvPicPr>
          <p:nvPr>
            <p:ph idx="101" hasCustomPrompt="1"/>
          </p:nvPr>
        </p:nvPicPr>
        <p:blipFill>
          <a:blip r:embed="rId2"/>
          <a:srcRect l="0" r="0" t="0" b="0"/>
          <a:stretch/>
        </p:blipFill>
        <p:spPr>
          <a:xfrm>
            <a:off x="4526280" y="228600"/>
            <a:ext cx="2148840" cy="2295144"/>
          </a:xfrm>
          <a:prstGeom prst="rect">
            <a:avLst/>
          </a:prstGeom>
        </p:spPr>
      </p:pic>
      <p:pic>
        <p:nvPicPr>
          <p:cNvPr id="4" name="Image 2" descr="/home/user/Annabel_Portfolio/_slide-themes/.cache/photos/nixie_tube.jpg">    </p:cNvPr>
          <p:cNvPicPr>
            <a:picLocks noChangeAspect="1"/>
          </p:cNvPicPr>
          <p:nvPr>
            <p:ph idx="102" hasCustomPrompt="1"/>
          </p:nvPr>
        </p:nvPicPr>
        <p:blipFill>
          <a:blip r:embed="rId3"/>
          <a:srcRect l="0" r="0" t="0" b="0"/>
          <a:stretch/>
        </p:blipFill>
        <p:spPr>
          <a:xfrm>
            <a:off x="6766560" y="228600"/>
            <a:ext cx="2148840" cy="2295144"/>
          </a:xfrm>
          <a:prstGeom prst="rect">
            <a:avLst/>
          </a:prstGeom>
        </p:spPr>
      </p:pic>
      <p:pic>
        <p:nvPicPr>
          <p:cNvPr id="5" name="Image 3" descr="/home/user/Annabel_Portfolio/_slide-themes/.cache/photos/trio.jpg">    </p:cNvPr>
          <p:cNvPicPr>
            <a:picLocks noChangeAspect="1"/>
          </p:cNvPicPr>
          <p:nvPr>
            <p:ph idx="103" hasCustomPrompt="1"/>
          </p:nvPr>
        </p:nvPicPr>
        <p:blipFill>
          <a:blip r:embed="rId4"/>
          <a:srcRect l="0" r="0" t="0" b="0"/>
          <a:stretch/>
        </p:blipFill>
        <p:spPr>
          <a:xfrm>
            <a:off x="4526280" y="2615184"/>
            <a:ext cx="4389120" cy="2299716"/>
          </a:xfrm>
          <a:prstGeom prst="rect">
            <a:avLst/>
          </a:prstGeom>
        </p:spPr>
      </p:pic>
      <p:sp>
        <p:nvSpPr>
          <p:cNvPr id="6" name="Text 1"/>
          <p:cNvSpPr/>
          <p:nvPr>
            <p:ph idx="105" type="title" hasCustomPrompt="1"/>
          </p:nvPr>
        </p:nvSpPr>
        <p:spPr>
          <a:xfrm>
            <a:off x="411480" y="3675888"/>
            <a:ext cx="38404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Selected work</a:t>
            </a:r>
            <a:endParaRPr lang="en-US" sz="2200" dirty="0"/>
          </a:p>
        </p:txBody>
      </p:sp>
      <p:sp>
        <p:nvSpPr>
          <p:cNvPr id="7" name="Text 1"/>
          <p:cNvSpPr/>
          <p:nvPr>
            <p:ph idx="106" type="body" hasCustomPrompt="1"/>
          </p:nvPr>
        </p:nvSpPr>
        <p:spPr>
          <a:xfrm>
            <a:off x="411480" y="4425696"/>
            <a:ext cx="38404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Theater · Embedded · 2022–2026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457200" y="320040"/>
            <a:ext cx="57607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PROJECT</a:t>
            </a:r>
            <a:endParaRPr lang="en-US" sz="10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457200" y="548640"/>
            <a:ext cx="576072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Nixie Clock</a:t>
            </a:r>
            <a:endParaRPr lang="en-US" sz="2600" dirty="0"/>
          </a:p>
        </p:txBody>
      </p:sp>
      <p:sp>
        <p:nvSpPr>
          <p:cNvPr id="4" name="Text 7"/>
          <p:cNvSpPr/>
          <p:nvPr>
            <p:ph idx="110" type="body" hasCustomPrompt="1"/>
          </p:nvPr>
        </p:nvSpPr>
        <p:spPr>
          <a:xfrm>
            <a:off x="731520" y="1481328"/>
            <a:ext cx="5248656" cy="1929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chemeClr val="accent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Six glowing tubes, a hand-routed driver board, and a USB-C supply stepped up to 170 V.</a:t>
            </a:r>
            <a:endParaRPr lang="en-US" sz="1700" dirty="0"/>
          </a:p>
        </p:txBody>
      </p:sp>
      <p:sp>
        <p:nvSpPr>
          <p:cNvPr id="5" name="Text 8"/>
          <p:cNvSpPr/>
          <p:nvPr>
            <p:ph idx="112" type="body" hasCustomPrompt="1"/>
          </p:nvPr>
        </p:nvSpPr>
        <p:spPr>
          <a:xfrm>
            <a:off x="6565392" y="1444752"/>
            <a:ext cx="19659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Skills</a:t>
            </a:r>
            <a:endParaRPr lang="en-US" sz="1500" dirty="0"/>
          </a:p>
        </p:txBody>
      </p:sp>
      <p:sp>
        <p:nvSpPr>
          <p:cNvPr id="6" name="Text 8"/>
          <p:cNvSpPr/>
          <p:nvPr>
            <p:ph idx="113" type="body" hasCustomPrompt="1"/>
          </p:nvPr>
        </p:nvSpPr>
        <p:spPr>
          <a:xfrm>
            <a:off x="6565392" y="1874520"/>
            <a:ext cx="196596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177800" indent="-1778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KiCad layout</a:t>
            </a:r>
            <a:endParaRPr lang="en-US" sz="1100" dirty="0"/>
          </a:p>
          <a:p>
            <a:pPr algn="l" marL="177800" indent="-1778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Shift registers</a:t>
            </a:r>
            <a:endParaRPr lang="en-US" sz="1100" dirty="0"/>
          </a:p>
          <a:p>
            <a:pPr algn="l" marL="177800" indent="-1778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USB-C power</a:t>
            </a:r>
            <a:endParaRPr lang="en-US" sz="1100" dirty="0"/>
          </a:p>
          <a:p>
            <a:pPr algn="l" marL="177800" indent="-1778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High voltage</a:t>
            </a:r>
            <a:endParaRPr lang="en-US" sz="1100" dirty="0"/>
          </a:p>
          <a:p>
            <a:pPr algn="l" marL="177800" indent="-1778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Enclosure CNC</a:t>
            </a:r>
            <a:endParaRPr lang="en-US" sz="1100" dirty="0"/>
          </a:p>
        </p:txBody>
      </p:sp>
      <p:sp>
        <p:nvSpPr>
          <p:cNvPr id="7" name="Text 9"/>
          <p:cNvSpPr/>
          <p:nvPr>
            <p:ph idx="115" type="body" hasCustomPrompt="1"/>
          </p:nvPr>
        </p:nvSpPr>
        <p:spPr>
          <a:xfrm>
            <a:off x="713232" y="3886200"/>
            <a:ext cx="173736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90849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DATE</a:t>
            </a:r>
            <a:endParaRPr lang="en-US" sz="900" dirty="0"/>
          </a:p>
        </p:txBody>
      </p:sp>
      <p:sp>
        <p:nvSpPr>
          <p:cNvPr id="8" name="Text 9"/>
          <p:cNvSpPr/>
          <p:nvPr>
            <p:ph idx="116" type="body" hasCustomPrompt="1"/>
          </p:nvPr>
        </p:nvSpPr>
        <p:spPr>
          <a:xfrm>
            <a:off x="713232" y="4133088"/>
            <a:ext cx="17373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2024</a:t>
            </a:r>
            <a:endParaRPr lang="en-US" sz="1200" dirty="0"/>
          </a:p>
        </p:txBody>
      </p:sp>
      <p:sp>
        <p:nvSpPr>
          <p:cNvPr id="9" name="Text 9"/>
          <p:cNvSpPr/>
          <p:nvPr>
            <p:ph idx="117" type="body" hasCustomPrompt="1"/>
          </p:nvPr>
        </p:nvSpPr>
        <p:spPr>
          <a:xfrm>
            <a:off x="2606040" y="3886200"/>
            <a:ext cx="173736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90849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COMPLEXITY</a:t>
            </a:r>
            <a:endParaRPr lang="en-US" sz="900" dirty="0"/>
          </a:p>
        </p:txBody>
      </p:sp>
      <p:sp>
        <p:nvSpPr>
          <p:cNvPr id="10" name="Text 9"/>
          <p:cNvSpPr/>
          <p:nvPr>
            <p:ph idx="118" type="body" hasCustomPrompt="1"/>
          </p:nvPr>
        </p:nvSpPr>
        <p:spPr>
          <a:xfrm>
            <a:off x="2606040" y="4133088"/>
            <a:ext cx="17373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High</a:t>
            </a:r>
            <a:endParaRPr lang="en-US" sz="1200" dirty="0"/>
          </a:p>
        </p:txBody>
      </p:sp>
      <p:sp>
        <p:nvSpPr>
          <p:cNvPr id="11" name="Text 9"/>
          <p:cNvSpPr/>
          <p:nvPr>
            <p:ph idx="119" type="body" hasCustomPrompt="1"/>
          </p:nvPr>
        </p:nvSpPr>
        <p:spPr>
          <a:xfrm>
            <a:off x="4480560" y="3886200"/>
            <a:ext cx="164592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90849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ROLE</a:t>
            </a:r>
            <a:endParaRPr lang="en-US" sz="900" dirty="0"/>
          </a:p>
        </p:txBody>
      </p:sp>
      <p:sp>
        <p:nvSpPr>
          <p:cNvPr id="12" name="Text 9"/>
          <p:cNvSpPr/>
          <p:nvPr>
            <p:ph idx="120" type="body" hasCustomPrompt="1"/>
          </p:nvPr>
        </p:nvSpPr>
        <p:spPr>
          <a:xfrm>
            <a:off x="4480560" y="4133088"/>
            <a:ext cx="16459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Solo build</a:t>
            </a:r>
            <a:endParaRPr lang="en-US" sz="1200" dirty="0"/>
          </a:p>
        </p:txBody>
      </p:sp>
      <p:sp>
        <p:nvSpPr>
          <p:cNvPr id="13" name="badge 2024"/>
          <p:cNvSpPr/>
          <p:nvPr/>
        </p:nvSpPr>
        <p:spPr>
          <a:xfrm>
            <a:off x="7050024" y="658368"/>
            <a:ext cx="548640" cy="27432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2024</a:t>
            </a:r>
            <a:endParaRPr lang="en-US" sz="900" dirty="0"/>
          </a:p>
        </p:txBody>
      </p:sp>
      <p:sp>
        <p:nvSpPr>
          <p:cNvPr id="14" name="badge PCB Design"/>
          <p:cNvSpPr/>
          <p:nvPr/>
        </p:nvSpPr>
        <p:spPr>
          <a:xfrm>
            <a:off x="7671816" y="658368"/>
            <a:ext cx="1014984" cy="27432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PCB Design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BB7B7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8"/>
          <p:cNvSpPr/>
          <p:nvPr>
            <p:ph idx="108" type="body" hasCustomPrompt="1"/>
          </p:nvPr>
        </p:nvSpPr>
        <p:spPr>
          <a:xfrm>
            <a:off x="1325880" y="1051560"/>
            <a:ext cx="7040880" cy="2423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The best tech is the tech the audience never notices.</a:t>
            </a:r>
            <a:endParaRPr lang="en-US" sz="2200" dirty="0"/>
          </a:p>
        </p:txBody>
      </p:sp>
      <p:sp>
        <p:nvSpPr>
          <p:cNvPr id="3" name="Text 8"/>
          <p:cNvSpPr/>
          <p:nvPr>
            <p:ph idx="109" type="body" hasCustomPrompt="1"/>
          </p:nvPr>
        </p:nvSpPr>
        <p:spPr>
          <a:xfrm>
            <a:off x="1325880" y="3566160"/>
            <a:ext cx="70408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— a rule I build by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BB7B7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548640" y="347472"/>
            <a:ext cx="80467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BY THE NUMBERS</a:t>
            </a:r>
            <a:endParaRPr lang="en-US" sz="10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548640" y="585216"/>
            <a:ext cx="80467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Five years of building</a:t>
            </a:r>
            <a:endParaRPr lang="en-US" sz="2600" dirty="0"/>
          </a:p>
        </p:txBody>
      </p:sp>
      <p:sp>
        <p:nvSpPr>
          <p:cNvPr id="4" name="Text 8"/>
          <p:cNvSpPr/>
          <p:nvPr>
            <p:ph idx="110" type="body" hasCustomPrompt="1"/>
          </p:nvPr>
        </p:nvSpPr>
        <p:spPr>
          <a:xfrm>
            <a:off x="749808" y="1664208"/>
            <a:ext cx="219456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accent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26</a:t>
            </a:r>
            <a:endParaRPr lang="en-US" sz="4000" dirty="0"/>
          </a:p>
        </p:txBody>
      </p:sp>
      <p:sp>
        <p:nvSpPr>
          <p:cNvPr id="5" name="Text 8"/>
          <p:cNvSpPr/>
          <p:nvPr>
            <p:ph idx="111" type="body" hasCustomPrompt="1"/>
          </p:nvPr>
        </p:nvSpPr>
        <p:spPr>
          <a:xfrm>
            <a:off x="749808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90849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PROJECTS</a:t>
            </a:r>
            <a:endParaRPr lang="en-US" sz="1000" dirty="0"/>
          </a:p>
        </p:txBody>
      </p:sp>
      <p:sp>
        <p:nvSpPr>
          <p:cNvPr id="6" name="Text 8"/>
          <p:cNvSpPr/>
          <p:nvPr>
            <p:ph idx="112" type="body" hasCustomPrompt="1"/>
          </p:nvPr>
        </p:nvSpPr>
        <p:spPr>
          <a:xfrm>
            <a:off x="749808" y="3108960"/>
            <a:ext cx="219456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Documented builds on the portfolio</a:t>
            </a:r>
            <a:endParaRPr lang="en-US" sz="1100" dirty="0"/>
          </a:p>
        </p:txBody>
      </p:sp>
      <p:sp>
        <p:nvSpPr>
          <p:cNvPr id="7" name="Text 9"/>
          <p:cNvSpPr/>
          <p:nvPr>
            <p:ph idx="114" type="body" hasCustomPrompt="1"/>
          </p:nvPr>
        </p:nvSpPr>
        <p:spPr>
          <a:xfrm>
            <a:off x="3493008" y="1664208"/>
            <a:ext cx="219456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accent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7</a:t>
            </a:r>
            <a:endParaRPr lang="en-US" sz="4000" dirty="0"/>
          </a:p>
        </p:txBody>
      </p:sp>
      <p:sp>
        <p:nvSpPr>
          <p:cNvPr id="8" name="Text 9"/>
          <p:cNvSpPr/>
          <p:nvPr>
            <p:ph idx="115" type="body" hasCustomPrompt="1"/>
          </p:nvPr>
        </p:nvSpPr>
        <p:spPr>
          <a:xfrm>
            <a:off x="3493008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90849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DISCIPLINES</a:t>
            </a:r>
            <a:endParaRPr lang="en-US" sz="1000" dirty="0"/>
          </a:p>
        </p:txBody>
      </p:sp>
      <p:sp>
        <p:nvSpPr>
          <p:cNvPr id="9" name="Text 9"/>
          <p:cNvSpPr/>
          <p:nvPr>
            <p:ph idx="116" type="body" hasCustomPrompt="1"/>
          </p:nvPr>
        </p:nvSpPr>
        <p:spPr>
          <a:xfrm>
            <a:off x="3493008" y="3108960"/>
            <a:ext cx="219456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From theater to PCB design to CS</a:t>
            </a:r>
            <a:endParaRPr lang="en-US" sz="1100" dirty="0"/>
          </a:p>
        </p:txBody>
      </p:sp>
      <p:sp>
        <p:nvSpPr>
          <p:cNvPr id="10" name="Text 10"/>
          <p:cNvSpPr/>
          <p:nvPr>
            <p:ph idx="118" type="body" hasCustomPrompt="1"/>
          </p:nvPr>
        </p:nvSpPr>
        <p:spPr>
          <a:xfrm>
            <a:off x="6236208" y="1664208"/>
            <a:ext cx="219456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accent1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5</a:t>
            </a:r>
            <a:endParaRPr lang="en-US" sz="4000" dirty="0"/>
          </a:p>
        </p:txBody>
      </p:sp>
      <p:sp>
        <p:nvSpPr>
          <p:cNvPr id="11" name="Text 10"/>
          <p:cNvSpPr/>
          <p:nvPr>
            <p:ph idx="119" type="body" hasCustomPrompt="1"/>
          </p:nvPr>
        </p:nvSpPr>
        <p:spPr>
          <a:xfrm>
            <a:off x="6236208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90849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YEARS</a:t>
            </a:r>
            <a:endParaRPr lang="en-US" sz="1000" dirty="0"/>
          </a:p>
        </p:txBody>
      </p:sp>
      <p:sp>
        <p:nvSpPr>
          <p:cNvPr id="12" name="Text 10"/>
          <p:cNvSpPr/>
          <p:nvPr>
            <p:ph idx="120" type="body" hasCustomPrompt="1"/>
          </p:nvPr>
        </p:nvSpPr>
        <p:spPr>
          <a:xfrm>
            <a:off x="6236208" y="3108960"/>
            <a:ext cx="219456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Of making, 2022 through 2026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BB7B7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548640" y="502920"/>
            <a:ext cx="29260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TODAY</a:t>
            </a:r>
            <a:endParaRPr lang="en-US" sz="10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54864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Six disciplines, one portfolio</a:t>
            </a:r>
            <a:endParaRPr lang="en-US" sz="3000" dirty="0"/>
          </a:p>
        </p:txBody>
      </p:sp>
      <p:sp>
        <p:nvSpPr>
          <p:cNvPr id="4" name="Text 7"/>
          <p:cNvSpPr/>
          <p:nvPr>
            <p:ph idx="109" type="body" hasCustomPrompt="1"/>
          </p:nvPr>
        </p:nvSpPr>
        <p:spPr>
          <a:xfrm>
            <a:off x="548640" y="2286000"/>
            <a:ext cx="283464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Each colour matches the tag bar on the site, so sections stay coded throughout.</a:t>
            </a:r>
            <a:endParaRPr lang="en-US" sz="1200" dirty="0"/>
          </a:p>
        </p:txBody>
      </p:sp>
      <p:sp>
        <p:nvSpPr>
          <p:cNvPr id="5" name="Text 8"/>
          <p:cNvSpPr/>
          <p:nvPr>
            <p:ph idx="111" type="body" hasCustomPrompt="1"/>
          </p:nvPr>
        </p:nvSpPr>
        <p:spPr>
          <a:xfrm>
            <a:off x="4681728" y="502920"/>
            <a:ext cx="39319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Theater — GOOD (2025)</a:t>
            </a:r>
            <a:endParaRPr lang="en-US" sz="1600" dirty="0"/>
          </a:p>
        </p:txBody>
      </p:sp>
      <p:sp>
        <p:nvSpPr>
          <p:cNvPr id="6" name="Text 9"/>
          <p:cNvSpPr/>
          <p:nvPr>
            <p:ph idx="113" type="body" hasCustomPrompt="1"/>
          </p:nvPr>
        </p:nvSpPr>
        <p:spPr>
          <a:xfrm>
            <a:off x="4681728" y="1188720"/>
            <a:ext cx="39319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Embedded — abLED wearables</a:t>
            </a:r>
            <a:endParaRPr lang="en-US" sz="1600" dirty="0"/>
          </a:p>
        </p:txBody>
      </p:sp>
      <p:sp>
        <p:nvSpPr>
          <p:cNvPr id="7" name="Text 10"/>
          <p:cNvSpPr/>
          <p:nvPr>
            <p:ph idx="115" type="body" hasCustomPrompt="1"/>
          </p:nvPr>
        </p:nvSpPr>
        <p:spPr>
          <a:xfrm>
            <a:off x="4681728" y="1874520"/>
            <a:ext cx="39319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DSP — FPGA synth</a:t>
            </a:r>
            <a:endParaRPr lang="en-US" sz="1600" dirty="0"/>
          </a:p>
        </p:txBody>
      </p:sp>
      <p:sp>
        <p:nvSpPr>
          <p:cNvPr id="8" name="Text 11"/>
          <p:cNvSpPr/>
          <p:nvPr>
            <p:ph idx="117" type="body" hasCustomPrompt="1"/>
          </p:nvPr>
        </p:nvSpPr>
        <p:spPr>
          <a:xfrm>
            <a:off x="4681728" y="2560320"/>
            <a:ext cx="39319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PCB Design — Nixie clock</a:t>
            </a:r>
            <a:endParaRPr lang="en-US" sz="1600" dirty="0"/>
          </a:p>
        </p:txBody>
      </p:sp>
      <p:sp>
        <p:nvSpPr>
          <p:cNvPr id="9" name="Text 12"/>
          <p:cNvSpPr/>
          <p:nvPr>
            <p:ph idx="119" type="body" hasCustomPrompt="1"/>
          </p:nvPr>
        </p:nvSpPr>
        <p:spPr>
          <a:xfrm>
            <a:off x="4681728" y="3246120"/>
            <a:ext cx="39319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Fabrication — wedding arch</a:t>
            </a:r>
            <a:endParaRPr lang="en-US" sz="1600" dirty="0"/>
          </a:p>
        </p:txBody>
      </p:sp>
      <p:sp>
        <p:nvSpPr>
          <p:cNvPr id="10" name="Text 13"/>
          <p:cNvSpPr/>
          <p:nvPr>
            <p:ph idx="121" type="body" hasCustomPrompt="1"/>
          </p:nvPr>
        </p:nvSpPr>
        <p:spPr>
          <a:xfrm>
            <a:off x="4681728" y="3931920"/>
            <a:ext cx="39319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CS — gooey control center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BB7B7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548640" y="347472"/>
            <a:ext cx="80467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chemeClr val="accent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BUILD LOG</a:t>
            </a:r>
            <a:endParaRPr lang="en-US" sz="10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548640" y="585216"/>
            <a:ext cx="80467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Recent projects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1645920"/>
                <a:gridCol w="36576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Project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Year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Tag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Notes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C7A89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abLED v1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C7A89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2023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C7A89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Theater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C7A89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First wearable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C7A89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Nixie Clock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C7A89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2024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C7A89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PCB Design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C7A89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Hand-routed driver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C7A89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FPGA Synth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C7A89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2024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C7A89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DSP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C7A89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Verilog oscillators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C7A89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Poem Box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C7A89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2024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C7A89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Fabrication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C7A89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Laser-cut gift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C7A89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gooey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C7A89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2026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C7A89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CS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C7A89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Control center for TheaterGWD</a:t>
                      </a:r>
                      <a:endParaRPr lang="en-US" sz="11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BB7B7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8"/>
          <p:cNvSpPr/>
          <p:nvPr>
            <p:ph idx="108" type="title" hasCustomPrompt="1"/>
          </p:nvPr>
        </p:nvSpPr>
        <p:spPr>
          <a:xfrm>
            <a:off x="457200" y="685800"/>
            <a:ext cx="8229600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FAF9F9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Text 8"/>
          <p:cNvSpPr/>
          <p:nvPr>
            <p:ph idx="109" type="body" hasCustomPrompt="1"/>
          </p:nvPr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2046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Electrical Engineering for Theater</a:t>
            </a:r>
            <a:endParaRPr lang="en-US" sz="1300" dirty="0"/>
          </a:p>
        </p:txBody>
      </p:sp>
      <p:sp>
        <p:nvSpPr>
          <p:cNvPr id="4" name="Text 8"/>
          <p:cNvSpPr/>
          <p:nvPr>
            <p:ph idx="110" type="body" hasCustomPrompt="1"/>
          </p:nvPr>
        </p:nvSpPr>
        <p:spPr>
          <a:xfrm>
            <a:off x="548640" y="3703320"/>
            <a:ext cx="80467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C7A89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please hire me :)</a:t>
            </a:r>
            <a:endParaRPr lang="en-US" sz="1500" dirty="0"/>
          </a:p>
        </p:txBody>
      </p:sp>
      <p:sp>
        <p:nvSpPr>
          <p:cNvPr id="5" name="Text 8"/>
          <p:cNvSpPr/>
          <p:nvPr>
            <p:ph idx="111" type="body" hasCustomPrompt="1"/>
          </p:nvPr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BB7B7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halfsohappy@gmail.com · annabel-lee.xyz · github.com/halfsohappy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nabel Lee · Gallery (light)">
  <a:themeElements>
    <a:clrScheme name="Annabel Lee · Gallery (light)">
      <a:dk1>
        <a:srgbClr val="2A2F36"/>
      </a:dk1>
      <a:lt1>
        <a:srgbClr val="FFFFFF"/>
      </a:lt1>
      <a:dk2>
        <a:srgbClr val="2A0E24"/>
      </a:dk2>
      <a:lt2>
        <a:srgbClr val="DCD4FE"/>
      </a:lt2>
      <a:accent1>
        <a:srgbClr val="936793"/>
      </a:accent1>
      <a:accent2>
        <a:srgbClr val="FA5A5A"/>
      </a:accent2>
      <a:accent3>
        <a:srgbClr val="0DCAF0"/>
      </a:accent3>
      <a:accent4>
        <a:srgbClr val="5AB518"/>
      </a:accent4>
      <a:accent5>
        <a:srgbClr val="E3BB7F"/>
      </a:accent5>
      <a:accent6>
        <a:srgbClr val="F08EA0"/>
      </a:accent6>
      <a:hlink>
        <a:srgbClr val="90849C"/>
      </a:hlink>
      <a:folHlink>
        <a:srgbClr val="936793"/>
      </a:folHlink>
    </a:clrScheme>
    <a:fontScheme name="Annabel Lee · Gallery (light)">
      <a:majorFont>
        <a:latin typeface="Playwrite DE Gru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rtian Mon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Annabel Lee · Gallery (light)</dc:title>
  <dc:subject>PptxGenJS Presentation</dc:subject>
  <dc:creator>Annabel Lee</dc:creator>
  <cp:lastModifiedBy>Annabel Lee</cp:lastModifiedBy>
  <cp:revision>1</cp:revision>
  <dcterms:created xsi:type="dcterms:W3CDTF">2026-10-23T20:15:04Z</dcterms:created>
  <dcterms:modified xsi:type="dcterms:W3CDTF">2026-10-23T20:15:04Z</dcterms:modified>
</cp:coreProperties>
</file>