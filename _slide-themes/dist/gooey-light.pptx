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 (theme background)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ECE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82296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8328" y="82296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880" y="237744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8328" y="237744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83880" y="178308"/>
            <a:ext cx="100584" cy="100584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76200" dist="50800" dir="5400000">
              <a:srgbClr val="99E6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pic>
        <p:nvPicPr>
          <p:cNvPr id="8" name="Image 0" descr="/home/user/Annabel_Portfolio/_slide-themes/.cache/assets/gooey_welcome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960120"/>
            <a:ext cx="6949440" cy="2926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960120"/>
            <a:ext cx="6949440" cy="2926080"/>
          </a:xfrm>
          <a:prstGeom prst="roundRect">
            <a:avLst>
              <a:gd name="adj" fmla="val 3750"/>
            </a:avLst>
          </a:prstGeom>
          <a:ln w="19050">
            <a:solidFill>
              <a:srgbClr val="AF9FB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1463040" y="1143000"/>
            <a:ext cx="6217920" cy="1234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dirty="0">
                <a:solidFill>
                  <a:schemeClr val="tx2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800" dirty="0">
                <a:solidFill>
                  <a:schemeClr val="tx2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gooey</a:t>
            </a:r>
            <a:endParaRPr lang="en-US" sz="4800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1463040" y="2468880"/>
            <a:ext cx="62179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What this deck is about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463040" y="3154680"/>
            <a:ext cx="292608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50800" dist="12700" dir="5400000">
              <a:srgbClr val="000000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>
            <p:ph idx="111" type="body" hasCustomPrompt="1"/>
          </p:nvPr>
        </p:nvSpPr>
        <p:spPr>
          <a:xfrm>
            <a:off x="1463040" y="3154680"/>
            <a:ext cx="292608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Presenter · date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0" y="4800600"/>
            <a:ext cx="914400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27432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dirty="0">
                <a:solidFill>
                  <a:srgbClr val="6E748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dirty="0">
                <a:solidFill>
                  <a:srgbClr val="6E748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 messages</a:t>
            </a:r>
            <a:endParaRPr lang="en-US" sz="900" dirty="0"/>
          </a:p>
        </p:txBody>
      </p:sp>
      <p:sp>
        <p:nvSpPr>
          <p:cNvPr id="16" name="Text 9"/>
          <p:cNvSpPr/>
          <p:nvPr>
            <p:ph idx="114" type="body" hasCustomPrompt="1"/>
          </p:nvPr>
        </p:nvSpPr>
        <p:spPr>
          <a:xfrm>
            <a:off x="4754880" y="4846320"/>
            <a:ext cx="41148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900" dirty="0">
                <a:solidFill>
                  <a:srgbClr val="6E748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r" indent="0" marL="0">
              <a:buNone/>
            </a:pPr>
            <a:r>
              <a:rPr lang="en-US" sz="900" dirty="0">
                <a:solidFill>
                  <a:srgbClr val="6E748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 msg/s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C4B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82296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8328" y="82296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82880" y="237744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38328" y="237744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731520" y="1234440"/>
            <a:ext cx="3657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02 /</a:t>
            </a:r>
            <a:endParaRPr lang="en-US" sz="1600" dirty="0"/>
          </a:p>
        </p:txBody>
      </p:sp>
      <p:sp>
        <p:nvSpPr>
          <p:cNvPr id="7" name="Text 4"/>
          <p:cNvSpPr/>
          <p:nvPr>
            <p:ph idx="105" type="title" hasCustomPrompt="1"/>
          </p:nvPr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tx2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chemeClr val="tx2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Section title</a:t>
            </a:r>
            <a:endParaRPr lang="en-US" sz="4000" dirty="0"/>
          </a:p>
        </p:txBody>
      </p:sp>
      <p:sp>
        <p:nvSpPr>
          <p:cNvPr id="8" name="Shape 4"/>
          <p:cNvSpPr/>
          <p:nvPr/>
        </p:nvSpPr>
        <p:spPr>
          <a:xfrm>
            <a:off x="731520" y="2880360"/>
            <a:ext cx="1280160" cy="3200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9" name="Text 5"/>
          <p:cNvSpPr/>
          <p:nvPr>
            <p:ph idx="107" type="body" hasCustomPrompt="1"/>
          </p:nvPr>
        </p:nvSpPr>
        <p:spPr>
          <a:xfrm>
            <a:off x="731520" y="3154680"/>
            <a:ext cx="6400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en-US" sz="13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What happens in this part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6720840" y="685800"/>
            <a:ext cx="1828800" cy="329184"/>
          </a:xfrm>
          <a:prstGeom prst="roundRect">
            <a:avLst>
              <a:gd name="adj" fmla="val 50000"/>
            </a:avLst>
          </a:prstGeom>
          <a:solidFill>
            <a:schemeClr val="tx2">
              <a:alpha val="15000"/>
            </a:schemeClr>
          </a:solidFill>
          <a:ln w="12700">
            <a:solidFill>
              <a:schemeClr val="tx2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6876288" y="800100"/>
            <a:ext cx="91440" cy="91440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76200" dist="50800" dir="5400000">
              <a:srgbClr val="99E6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7040880" y="685800"/>
            <a:ext cx="1463040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150" kern="0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150" kern="0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SCENE 02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">
    <p:bg>
      <p:bgPr>
        <a:solidFill>
          <a:srgbClr val="DCD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82296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8328" y="82296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880" y="237744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8328" y="237744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91440"/>
            <a:ext cx="2011680" cy="2743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178308"/>
            <a:ext cx="100584" cy="100584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76200" dist="50800" dir="5400000">
              <a:srgbClr val="99E6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11480" y="731520"/>
            <a:ext cx="8321040" cy="4114800"/>
          </a:xfrm>
          <a:prstGeom prst="roundRect">
            <a:avLst>
              <a:gd name="adj" fmla="val 1111"/>
            </a:avLst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>
            <p:ph idx="109" type="title" hasCustomPrompt="1"/>
          </p:nvPr>
        </p:nvSpPr>
        <p:spPr>
          <a:xfrm>
            <a:off x="685800" y="822960"/>
            <a:ext cx="77724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Card heading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685800" y="1389888"/>
            <a:ext cx="7772400" cy="0"/>
          </a:xfrm>
          <a:prstGeom prst="line">
            <a:avLst/>
          </a:prstGeom>
          <a:noFill/>
          <a:ln w="12700">
            <a:solidFill>
              <a:srgbClr val="BEB1CB"/>
            </a:solidFill>
            <a:prstDash val="solid"/>
          </a:ln>
        </p:spPr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685800" y="1600200"/>
            <a:ext cx="777240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spcAft>
                <a:spcPts val="600"/>
              </a:spcAft>
              <a:buNone/>
              <a:defRPr lang="en-US" sz="13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Body text in Martian Mono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rols + live feed">
    <p:bg>
      <p:bgPr>
        <a:solidFill>
          <a:srgbClr val="ECE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82296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8328" y="82296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880" y="237744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8328" y="237744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91440"/>
            <a:ext cx="2011680" cy="2743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178308"/>
            <a:ext cx="100584" cy="100584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76200" dist="50800" dir="5400000">
              <a:srgbClr val="99E6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411480" y="685800"/>
            <a:ext cx="45262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What you do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411480" y="1252728"/>
            <a:ext cx="4526280" cy="0"/>
          </a:xfrm>
          <a:prstGeom prst="line">
            <a:avLst/>
          </a:prstGeom>
          <a:noFill/>
          <a:ln w="12700">
            <a:solidFill>
              <a:srgbClr val="BEB1CB"/>
            </a:solidFill>
            <a:prstDash val="solid"/>
          </a:ln>
        </p:spPr>
      </p:sp>
      <p:sp>
        <p:nvSpPr>
          <p:cNvPr id="12" name="Text 8"/>
          <p:cNvSpPr/>
          <p:nvPr>
            <p:ph idx="110" type="body" hasCustomPrompt="1"/>
          </p:nvPr>
        </p:nvSpPr>
        <p:spPr>
          <a:xfrm>
            <a:off x="411480" y="1463040"/>
            <a:ext cx="452628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spcAft>
                <a:spcPts val="600"/>
              </a:spcAft>
              <a:buNone/>
              <a:defRPr lang="en-US" sz="13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Controls and explanation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166360" y="457200"/>
            <a:ext cx="3977640" cy="46863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Shape 9"/>
          <p:cNvSpPr/>
          <p:nvPr/>
        </p:nvSpPr>
        <p:spPr>
          <a:xfrm>
            <a:off x="5166360" y="457200"/>
            <a:ext cx="0" cy="468630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15" name="Text 10"/>
          <p:cNvSpPr/>
          <p:nvPr>
            <p:ph idx="113" type="body" hasCustomPrompt="1"/>
          </p:nvPr>
        </p:nvSpPr>
        <p:spPr>
          <a:xfrm>
            <a:off x="5367528" y="566928"/>
            <a:ext cx="23774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Live Feed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5166360" y="1051560"/>
            <a:ext cx="397764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1"/>
          <p:cNvSpPr/>
          <p:nvPr>
            <p:ph idx="115" type="body" hasCustomPrompt="1"/>
          </p:nvPr>
        </p:nvSpPr>
        <p:spPr>
          <a:xfrm>
            <a:off x="5367528" y="1170432"/>
            <a:ext cx="3611880" cy="3474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en-US" sz="10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timestamp  RECV  /address (value)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5166360" y="4846320"/>
            <a:ext cx="397764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2"/>
          <p:cNvSpPr/>
          <p:nvPr>
            <p:ph idx="117" type="body" hasCustomPrompt="1"/>
          </p:nvPr>
        </p:nvSpPr>
        <p:spPr>
          <a:xfrm>
            <a:off x="5367528" y="4882896"/>
            <a:ext cx="361188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E748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6E748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 messages · 0 msg/s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ards">
    <p:bg>
      <p:bgPr>
        <a:solidFill>
          <a:srgbClr val="DCD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82296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8328" y="82296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880" y="237744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8328" y="237744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91440"/>
            <a:ext cx="2011680" cy="2743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178308"/>
            <a:ext cx="100584" cy="100584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76200" dist="50800" dir="5400000">
              <a:srgbClr val="99E6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Compare two things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411480" y="1234440"/>
            <a:ext cx="4069080" cy="3611880"/>
          </a:xfrm>
          <a:prstGeom prst="roundRect">
            <a:avLst>
              <a:gd name="adj" fmla="val 1266"/>
            </a:avLst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>
            <p:ph idx="110" type="body" hasCustomPrompt="1"/>
          </p:nvPr>
        </p:nvSpPr>
        <p:spPr>
          <a:xfrm>
            <a:off x="640080" y="1298448"/>
            <a:ext cx="36118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Before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640080" y="1865376"/>
            <a:ext cx="3611880" cy="0"/>
          </a:xfrm>
          <a:prstGeom prst="line">
            <a:avLst/>
          </a:prstGeom>
          <a:noFill/>
          <a:ln w="12700">
            <a:solidFill>
              <a:srgbClr val="BEB1CB"/>
            </a:solidFill>
            <a:prstDash val="solid"/>
          </a:ln>
        </p:spPr>
      </p:sp>
      <p:sp>
        <p:nvSpPr>
          <p:cNvPr id="14" name="Text 9"/>
          <p:cNvSpPr/>
          <p:nvPr>
            <p:ph idx="112" type="body" hasCustomPrompt="1"/>
          </p:nvPr>
        </p:nvSpPr>
        <p:spPr>
          <a:xfrm>
            <a:off x="640080" y="2011680"/>
            <a:ext cx="361188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150" kern="0" dirty="0">
                <a:solidFill>
                  <a:srgbClr val="917A9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150" kern="0" dirty="0">
                <a:solidFill>
                  <a:srgbClr val="917A9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LABEL</a:t>
            </a:r>
            <a:endParaRPr lang="en-US" sz="900" dirty="0"/>
          </a:p>
        </p:txBody>
      </p:sp>
      <p:sp>
        <p:nvSpPr>
          <p:cNvPr id="15" name="Text 9"/>
          <p:cNvSpPr/>
          <p:nvPr>
            <p:ph idx="113" type="body" hasCustomPrompt="1"/>
          </p:nvPr>
        </p:nvSpPr>
        <p:spPr>
          <a:xfrm>
            <a:off x="640080" y="2286000"/>
            <a:ext cx="36118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spcAft>
                <a:spcPts val="400"/>
              </a:spcAft>
              <a:buNone/>
              <a:def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Details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4663440" y="1234440"/>
            <a:ext cx="4069080" cy="3611880"/>
          </a:xfrm>
          <a:prstGeom prst="roundRect">
            <a:avLst>
              <a:gd name="adj" fmla="val 1266"/>
            </a:avLst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7" name="Text 10"/>
          <p:cNvSpPr/>
          <p:nvPr>
            <p:ph idx="115" type="body" hasCustomPrompt="1"/>
          </p:nvPr>
        </p:nvSpPr>
        <p:spPr>
          <a:xfrm>
            <a:off x="4892040" y="1298448"/>
            <a:ext cx="36118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After</a:t>
            </a:r>
            <a:endParaRPr lang="en-US" sz="1700" dirty="0"/>
          </a:p>
        </p:txBody>
      </p:sp>
      <p:sp>
        <p:nvSpPr>
          <p:cNvPr id="18" name="Shape 10"/>
          <p:cNvSpPr/>
          <p:nvPr/>
        </p:nvSpPr>
        <p:spPr>
          <a:xfrm>
            <a:off x="4892040" y="1865376"/>
            <a:ext cx="3611880" cy="0"/>
          </a:xfrm>
          <a:prstGeom prst="line">
            <a:avLst/>
          </a:prstGeom>
          <a:noFill/>
          <a:ln w="12700">
            <a:solidFill>
              <a:srgbClr val="BEB1CB"/>
            </a:solidFill>
            <a:prstDash val="solid"/>
          </a:ln>
        </p:spPr>
      </p:sp>
      <p:sp>
        <p:nvSpPr>
          <p:cNvPr id="19" name="Text 11"/>
          <p:cNvSpPr/>
          <p:nvPr>
            <p:ph idx="117" type="body" hasCustomPrompt="1"/>
          </p:nvPr>
        </p:nvSpPr>
        <p:spPr>
          <a:xfrm>
            <a:off x="4892040" y="2011680"/>
            <a:ext cx="361188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150" kern="0" dirty="0">
                <a:solidFill>
                  <a:srgbClr val="917A9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150" kern="0" dirty="0">
                <a:solidFill>
                  <a:srgbClr val="917A9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LABEL</a:t>
            </a:r>
            <a:endParaRPr lang="en-US" sz="900" dirty="0"/>
          </a:p>
        </p:txBody>
      </p:sp>
      <p:sp>
        <p:nvSpPr>
          <p:cNvPr id="20" name="Text 11"/>
          <p:cNvSpPr/>
          <p:nvPr>
            <p:ph idx="118" type="body" hasCustomPrompt="1"/>
          </p:nvPr>
        </p:nvSpPr>
        <p:spPr>
          <a:xfrm>
            <a:off x="4892040" y="2286000"/>
            <a:ext cx="36118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spcAft>
                <a:spcPts val="400"/>
              </a:spcAft>
              <a:buNone/>
              <a:def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Details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ick actions (3 stats)">
    <p:bg>
      <p:bgPr>
        <a:solidFill>
          <a:srgbClr val="DCD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82296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8328" y="82296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880" y="237744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8328" y="237744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91440"/>
            <a:ext cx="2011680" cy="2743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178308"/>
            <a:ext cx="100584" cy="100584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76200" dist="50800" dir="5400000">
              <a:srgbClr val="99E6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At a glance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411480" y="1280160"/>
            <a:ext cx="2743200" cy="3520440"/>
          </a:xfrm>
          <a:prstGeom prst="roundRect">
            <a:avLst>
              <a:gd name="adj" fmla="val 1667"/>
            </a:avLst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2880360" y="1481328"/>
            <a:ext cx="100584" cy="100584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76200" dist="50800" dir="5400000">
              <a:srgbClr val="99E6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>
            <p:ph idx="111" type="body" hasCustomPrompt="1"/>
          </p:nvPr>
        </p:nvSpPr>
        <p:spPr>
          <a:xfrm>
            <a:off x="640080" y="1417320"/>
            <a:ext cx="210312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150" kern="0" dirty="0">
                <a:solidFill>
                  <a:srgbClr val="917A9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150" kern="0" dirty="0">
                <a:solidFill>
                  <a:srgbClr val="917A9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LABEL</a:t>
            </a:r>
            <a:endParaRPr lang="en-US" sz="900" dirty="0"/>
          </a:p>
        </p:txBody>
      </p:sp>
      <p:sp>
        <p:nvSpPr>
          <p:cNvPr id="14" name="Text 9"/>
          <p:cNvSpPr/>
          <p:nvPr>
            <p:ph idx="112" type="body" hasCustomPrompt="1"/>
          </p:nvPr>
        </p:nvSpPr>
        <p:spPr>
          <a:xfrm>
            <a:off x="640080" y="1783080"/>
            <a:ext cx="2377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0000</a:t>
            </a:r>
            <a:endParaRPr lang="en-US" sz="3600" dirty="0"/>
          </a:p>
        </p:txBody>
      </p:sp>
      <p:sp>
        <p:nvSpPr>
          <p:cNvPr id="15" name="Shape 9"/>
          <p:cNvSpPr/>
          <p:nvPr/>
        </p:nvSpPr>
        <p:spPr>
          <a:xfrm>
            <a:off x="640080" y="2788920"/>
            <a:ext cx="2286000" cy="0"/>
          </a:xfrm>
          <a:prstGeom prst="line">
            <a:avLst/>
          </a:prstGeom>
          <a:noFill/>
          <a:ln w="12700">
            <a:solidFill>
              <a:srgbClr val="BEB1CB"/>
            </a:solidFill>
            <a:prstDash val="solid"/>
          </a:ln>
        </p:spPr>
      </p:sp>
      <p:sp>
        <p:nvSpPr>
          <p:cNvPr id="16" name="Text 10"/>
          <p:cNvSpPr/>
          <p:nvPr>
            <p:ph idx="114" type="body" hasCustomPrompt="1"/>
          </p:nvPr>
        </p:nvSpPr>
        <p:spPr>
          <a:xfrm>
            <a:off x="640080" y="2926080"/>
            <a:ext cx="233172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What the number means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3200400" y="1280160"/>
            <a:ext cx="2743200" cy="3520440"/>
          </a:xfrm>
          <a:prstGeom prst="roundRect">
            <a:avLst>
              <a:gd name="adj" fmla="val 1667"/>
            </a:avLst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8" name="Text 11"/>
          <p:cNvSpPr/>
          <p:nvPr/>
        </p:nvSpPr>
        <p:spPr>
          <a:xfrm>
            <a:off x="5669280" y="1481328"/>
            <a:ext cx="100584" cy="100584"/>
          </a:xfrm>
          <a:prstGeom prst="ellipse">
            <a:avLst/>
          </a:prstGeom>
          <a:solidFill>
            <a:schemeClr val="accent4"/>
          </a:solidFill>
          <a:ln/>
          <a:effectLst>
            <a:outerShdw sx="100000" sy="100000" kx="0" ky="0" algn="bl" rotWithShape="0" blurRad="76200" dist="50800" dir="5400000">
              <a:srgbClr val="FCB7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9" name="Text 12"/>
          <p:cNvSpPr/>
          <p:nvPr>
            <p:ph idx="117" type="body" hasCustomPrompt="1"/>
          </p:nvPr>
        </p:nvSpPr>
        <p:spPr>
          <a:xfrm>
            <a:off x="3429000" y="1417320"/>
            <a:ext cx="210312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150" kern="0" dirty="0">
                <a:solidFill>
                  <a:srgbClr val="917A9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150" kern="0" dirty="0">
                <a:solidFill>
                  <a:srgbClr val="917A9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LABEL</a:t>
            </a:r>
            <a:endParaRPr lang="en-US" sz="900" dirty="0"/>
          </a:p>
        </p:txBody>
      </p:sp>
      <p:sp>
        <p:nvSpPr>
          <p:cNvPr id="20" name="Text 12"/>
          <p:cNvSpPr/>
          <p:nvPr>
            <p:ph idx="118" type="body" hasCustomPrompt="1"/>
          </p:nvPr>
        </p:nvSpPr>
        <p:spPr>
          <a:xfrm>
            <a:off x="3429000" y="1783080"/>
            <a:ext cx="2377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0000</a:t>
            </a:r>
            <a:endParaRPr lang="en-US" sz="3600" dirty="0"/>
          </a:p>
        </p:txBody>
      </p:sp>
      <p:sp>
        <p:nvSpPr>
          <p:cNvPr id="21" name="Shape 12"/>
          <p:cNvSpPr/>
          <p:nvPr/>
        </p:nvSpPr>
        <p:spPr>
          <a:xfrm>
            <a:off x="3429000" y="2788920"/>
            <a:ext cx="2286000" cy="0"/>
          </a:xfrm>
          <a:prstGeom prst="line">
            <a:avLst/>
          </a:prstGeom>
          <a:noFill/>
          <a:ln w="12700">
            <a:solidFill>
              <a:srgbClr val="BEB1CB"/>
            </a:solidFill>
            <a:prstDash val="solid"/>
          </a:ln>
        </p:spPr>
      </p:sp>
      <p:sp>
        <p:nvSpPr>
          <p:cNvPr id="22" name="Text 13"/>
          <p:cNvSpPr/>
          <p:nvPr>
            <p:ph idx="120" type="body" hasCustomPrompt="1"/>
          </p:nvPr>
        </p:nvSpPr>
        <p:spPr>
          <a:xfrm>
            <a:off x="3429000" y="2926080"/>
            <a:ext cx="233172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What the number means</a:t>
            </a:r>
            <a:endParaRPr lang="en-US" sz="1100" dirty="0"/>
          </a:p>
        </p:txBody>
      </p:sp>
      <p:sp>
        <p:nvSpPr>
          <p:cNvPr id="23" name="Text 13"/>
          <p:cNvSpPr/>
          <p:nvPr/>
        </p:nvSpPr>
        <p:spPr>
          <a:xfrm>
            <a:off x="5989320" y="1280160"/>
            <a:ext cx="2743200" cy="3520440"/>
          </a:xfrm>
          <a:prstGeom prst="roundRect">
            <a:avLst>
              <a:gd name="adj" fmla="val 1667"/>
            </a:avLst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24" name="Text 14"/>
          <p:cNvSpPr/>
          <p:nvPr/>
        </p:nvSpPr>
        <p:spPr>
          <a:xfrm>
            <a:off x="8458200" y="1481328"/>
            <a:ext cx="100584" cy="100584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76200" dist="50800" dir="5400000">
              <a:srgbClr val="FF9FA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25" name="Text 15"/>
          <p:cNvSpPr/>
          <p:nvPr>
            <p:ph idx="123" type="body" hasCustomPrompt="1"/>
          </p:nvPr>
        </p:nvSpPr>
        <p:spPr>
          <a:xfrm>
            <a:off x="6217920" y="1417320"/>
            <a:ext cx="210312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150" kern="0" dirty="0">
                <a:solidFill>
                  <a:srgbClr val="917A9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150" kern="0" dirty="0">
                <a:solidFill>
                  <a:srgbClr val="917A9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LABEL</a:t>
            </a:r>
            <a:endParaRPr lang="en-US" sz="900" dirty="0"/>
          </a:p>
        </p:txBody>
      </p:sp>
      <p:sp>
        <p:nvSpPr>
          <p:cNvPr id="26" name="Text 15"/>
          <p:cNvSpPr/>
          <p:nvPr>
            <p:ph idx="124" type="body" hasCustomPrompt="1"/>
          </p:nvPr>
        </p:nvSpPr>
        <p:spPr>
          <a:xfrm>
            <a:off x="6217920" y="1783080"/>
            <a:ext cx="2377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0000</a:t>
            </a:r>
            <a:endParaRPr lang="en-US" sz="3600" dirty="0"/>
          </a:p>
        </p:txBody>
      </p:sp>
      <p:sp>
        <p:nvSpPr>
          <p:cNvPr id="27" name="Shape 15"/>
          <p:cNvSpPr/>
          <p:nvPr/>
        </p:nvSpPr>
        <p:spPr>
          <a:xfrm>
            <a:off x="6217920" y="2788920"/>
            <a:ext cx="2286000" cy="0"/>
          </a:xfrm>
          <a:prstGeom prst="line">
            <a:avLst/>
          </a:prstGeom>
          <a:noFill/>
          <a:ln w="12700">
            <a:solidFill>
              <a:srgbClr val="BEB1CB"/>
            </a:solidFill>
            <a:prstDash val="solid"/>
          </a:ln>
        </p:spPr>
      </p:sp>
      <p:sp>
        <p:nvSpPr>
          <p:cNvPr id="28" name="Text 16"/>
          <p:cNvSpPr/>
          <p:nvPr>
            <p:ph idx="126" type="body" hasCustomPrompt="1"/>
          </p:nvPr>
        </p:nvSpPr>
        <p:spPr>
          <a:xfrm>
            <a:off x="6217920" y="2926080"/>
            <a:ext cx="233172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11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What the number means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ipt console">
    <p:bg>
      <p:bgPr>
        <a:solidFill>
          <a:srgbClr val="ECE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82296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8328" y="82296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880" y="237744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8328" y="237744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91440"/>
            <a:ext cx="2011680" cy="2743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178308"/>
            <a:ext cx="100584" cy="100584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76200" dist="50800" dir="5400000">
              <a:srgbClr val="99E6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11480" y="731520"/>
            <a:ext cx="8321040" cy="4114800"/>
          </a:xfrm>
          <a:prstGeom prst="roundRect">
            <a:avLst>
              <a:gd name="adj" fmla="val 1111"/>
            </a:avLst>
          </a:prstGeom>
          <a:solidFill>
            <a:srgbClr val="0F0F0F"/>
          </a:solidFill>
          <a:ln w="19050">
            <a:solidFill>
              <a:srgbClr val="2A2A2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11480" y="731520"/>
            <a:ext cx="832104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>
            <p:ph idx="110" type="title" hasCustomPrompt="1"/>
          </p:nvPr>
        </p:nvSpPr>
        <p:spPr>
          <a:xfrm>
            <a:off x="640080" y="749808"/>
            <a:ext cx="548640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D8DEE8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D8DEE8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Script console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366760" y="909828"/>
            <a:ext cx="100584" cy="100584"/>
          </a:xfrm>
          <a:prstGeom prst="ellipse">
            <a:avLst/>
          </a:prstGeom>
          <a:solidFill>
            <a:srgbClr val="4CAF50"/>
          </a:solidFill>
          <a:ln/>
          <a:effectLst>
            <a:outerShdw sx="100000" sy="100000" kx="0" ky="0" algn="bl" rotWithShape="0" blurRad="76200" dist="50800" dir="5400000">
              <a:srgbClr val="4CAF5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>
            <p:ph idx="112" type="body" hasCustomPrompt="1"/>
          </p:nvPr>
        </p:nvSpPr>
        <p:spPr>
          <a:xfrm>
            <a:off x="685800" y="1371600"/>
            <a:ext cx="7772400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en-US" sz="1200" dirty="0">
                <a:solidFill>
                  <a:srgbClr val="D8DEE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D8DEE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&gt;&gt;&gt; device.msg("accelX").enable()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+ card">
    <p:bg>
      <p:bgPr>
        <a:solidFill>
          <a:srgbClr val="DCD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82296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8328" y="82296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880" y="237744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8328" y="237744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91440"/>
            <a:ext cx="2011680" cy="2743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178308"/>
            <a:ext cx="100584" cy="100584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76200" dist="50800" dir="5400000">
              <a:srgbClr val="99E6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11480" y="731520"/>
            <a:ext cx="4572000" cy="4114800"/>
          </a:xfrm>
          <a:prstGeom prst="roundRect">
            <a:avLst>
              <a:gd name="adj" fmla="val 2667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>
            <p:ph idx="109" hasCustomPrompt="1"/>
          </p:nvPr>
        </p:nvSpPr>
        <p:spPr>
          <a:xfrm>
            <a:off x="411480" y="731520"/>
            <a:ext cx="4572000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/>
            </a:lvl1pPr>
          </a:lstStyle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 or screenshot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212080" y="731520"/>
            <a:ext cx="3520440" cy="4114800"/>
          </a:xfrm>
          <a:prstGeom prst="roundRect">
            <a:avLst>
              <a:gd name="adj" fmla="val 1299"/>
            </a:avLst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>
            <p:ph idx="111" type="title" hasCustomPrompt="1"/>
          </p:nvPr>
        </p:nvSpPr>
        <p:spPr>
          <a:xfrm>
            <a:off x="5440680" y="822960"/>
            <a:ext cx="310896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Heading</a:t>
            </a:r>
            <a:endParaRPr lang="en-US" sz="2000" dirty="0"/>
          </a:p>
        </p:txBody>
      </p:sp>
      <p:sp>
        <p:nvSpPr>
          <p:cNvPr id="14" name="Shape 9"/>
          <p:cNvSpPr/>
          <p:nvPr/>
        </p:nvSpPr>
        <p:spPr>
          <a:xfrm>
            <a:off x="5440680" y="1389888"/>
            <a:ext cx="3108960" cy="0"/>
          </a:xfrm>
          <a:prstGeom prst="line">
            <a:avLst/>
          </a:prstGeom>
          <a:noFill/>
          <a:ln w="12700">
            <a:solidFill>
              <a:srgbClr val="BEB1CB"/>
            </a:solidFill>
            <a:prstDash val="solid"/>
          </a:ln>
        </p:spPr>
      </p:sp>
      <p:sp>
        <p:nvSpPr>
          <p:cNvPr id="15" name="Text 10"/>
          <p:cNvSpPr/>
          <p:nvPr>
            <p:ph idx="113" type="body" hasCustomPrompt="1"/>
          </p:nvPr>
        </p:nvSpPr>
        <p:spPr>
          <a:xfrm>
            <a:off x="5440680" y="1600200"/>
            <a:ext cx="310896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150" kern="0" dirty="0">
                <a:solidFill>
                  <a:srgbClr val="917A9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150" kern="0" dirty="0">
                <a:solidFill>
                  <a:srgbClr val="917A9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LABEL</a:t>
            </a:r>
            <a:endParaRPr lang="en-US" sz="900" dirty="0"/>
          </a:p>
        </p:txBody>
      </p:sp>
      <p:sp>
        <p:nvSpPr>
          <p:cNvPr id="16" name="Text 10"/>
          <p:cNvSpPr/>
          <p:nvPr>
            <p:ph idx="114" type="body" hasCustomPrompt="1"/>
          </p:nvPr>
        </p:nvSpPr>
        <p:spPr>
          <a:xfrm>
            <a:off x="5440680" y="1874520"/>
            <a:ext cx="3108960" cy="2788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spcAft>
                <a:spcPts val="400"/>
              </a:spcAft>
              <a:buNone/>
              <a:def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lcome steps">
    <p:bg>
      <p:bgPr>
        <a:solidFill>
          <a:srgbClr val="ECE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82296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8328" y="82296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880" y="237744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8328" y="237744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91440"/>
            <a:ext cx="2011680" cy="2743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178308"/>
            <a:ext cx="100584" cy="100584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76200" dist="50800" dir="5400000">
              <a:srgbClr val="99E6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pic>
        <p:nvPicPr>
          <p:cNvPr id="10" name="Image 0" descr="/home/user/Annabel_Portfolio/_slide-themes/.cache/assets/gooey_welcome_wide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731520"/>
            <a:ext cx="8321040" cy="4069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11480" y="731520"/>
            <a:ext cx="8321040" cy="4069080"/>
          </a:xfrm>
          <a:prstGeom prst="roundRect">
            <a:avLst>
              <a:gd name="adj" fmla="val 2697"/>
            </a:avLst>
          </a:prstGeom>
          <a:ln w="19050">
            <a:solidFill>
              <a:srgbClr val="AF9FB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>
            <p:ph idx="110" type="title" hasCustomPrompt="1"/>
          </p:nvPr>
        </p:nvSpPr>
        <p:spPr>
          <a:xfrm>
            <a:off x="777240" y="960120"/>
            <a:ext cx="75895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Welcome to …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777240" y="1837944"/>
            <a:ext cx="310896" cy="310896"/>
          </a:xfrm>
          <a:prstGeom prst="ellipse">
            <a:avLst/>
          </a:prstGeom>
          <a:solidFill>
            <a:srgbClr val="917A9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9"/>
          <p:cNvSpPr/>
          <p:nvPr>
            <p:ph idx="112" type="body" hasCustomPrompt="1"/>
          </p:nvPr>
        </p:nvSpPr>
        <p:spPr>
          <a:xfrm>
            <a:off x="1280160" y="1783080"/>
            <a:ext cx="704088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Step 1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777240" y="2478024"/>
            <a:ext cx="310896" cy="310896"/>
          </a:xfrm>
          <a:prstGeom prst="ellipse">
            <a:avLst/>
          </a:prstGeom>
          <a:solidFill>
            <a:srgbClr val="917A9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0"/>
          <p:cNvSpPr/>
          <p:nvPr>
            <p:ph idx="114" type="body" hasCustomPrompt="1"/>
          </p:nvPr>
        </p:nvSpPr>
        <p:spPr>
          <a:xfrm>
            <a:off x="1280160" y="2423160"/>
            <a:ext cx="704088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Step 2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777240" y="3118104"/>
            <a:ext cx="310896" cy="310896"/>
          </a:xfrm>
          <a:prstGeom prst="ellipse">
            <a:avLst/>
          </a:prstGeom>
          <a:solidFill>
            <a:srgbClr val="917A9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1"/>
          <p:cNvSpPr/>
          <p:nvPr>
            <p:ph idx="116" type="body" hasCustomPrompt="1"/>
          </p:nvPr>
        </p:nvSpPr>
        <p:spPr>
          <a:xfrm>
            <a:off x="1280160" y="3063240"/>
            <a:ext cx="704088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Step 3</a:t>
            </a:r>
            <a:endParaRPr lang="en-US" sz="1400" dirty="0"/>
          </a:p>
        </p:txBody>
      </p:sp>
      <p:sp>
        <p:nvSpPr>
          <p:cNvPr id="19" name="Text 11"/>
          <p:cNvSpPr/>
          <p:nvPr/>
        </p:nvSpPr>
        <p:spPr>
          <a:xfrm>
            <a:off x="777240" y="3931920"/>
            <a:ext cx="2377440" cy="438912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50800" dist="12700" dir="5400000">
              <a:srgbClr val="00000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20" name="Text 12"/>
          <p:cNvSpPr/>
          <p:nvPr>
            <p:ph idx="118" type="body" hasCustomPrompt="1"/>
          </p:nvPr>
        </p:nvSpPr>
        <p:spPr>
          <a:xfrm>
            <a:off x="777240" y="3931920"/>
            <a:ext cx="237744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3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Take a tour!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C4B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2880" y="82296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8328" y="82296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82880" y="237744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38328" y="237744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183880" y="178308"/>
            <a:ext cx="100584" cy="100584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76200" dist="50800" dir="5400000">
              <a:srgbClr val="99E6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>
            <p:ph idx="105" type="body" hasCustomPrompt="1"/>
          </p:nvPr>
        </p:nvSpPr>
        <p:spPr>
          <a:xfrm>
            <a:off x="822960" y="1005840"/>
            <a:ext cx="749808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en-US" sz="24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One strong sentence.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22960" y="3520440"/>
            <a:ext cx="1280160" cy="3200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9" name="Text 6"/>
          <p:cNvSpPr/>
          <p:nvPr>
            <p:ph idx="107" type="body" hasCustomPrompt="1"/>
          </p:nvPr>
        </p:nvSpPr>
        <p:spPr>
          <a:xfrm>
            <a:off x="822960" y="3703320"/>
            <a:ext cx="74980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— source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DCD4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82296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8328" y="82296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880" y="237744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8328" y="237744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91440"/>
            <a:ext cx="2011680" cy="2743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Section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183880" y="178308"/>
            <a:ext cx="100584" cy="100584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76200" dist="50800" dir="5400000">
              <a:srgbClr val="99E6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>
            <p:ph idx="108" type="title" hasCustomPrompt="1"/>
          </p:nvPr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Title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out (closing)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000" dirty="0">
                <a:solidFill>
                  <a:srgbClr val="F2F2F2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5000" dirty="0">
                <a:solidFill>
                  <a:srgbClr val="F2F2F2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thanks!</a:t>
            </a: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200" dirty="0">
                <a:solidFill>
                  <a:srgbClr val="9A9AA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200" dirty="0">
                <a:solidFill>
                  <a:srgbClr val="9A9AA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questions welcome</a:t>
            </a:r>
            <a:endParaRPr lang="en-US" sz="1200" dirty="0"/>
          </a:p>
        </p:txBody>
      </p:sp>
      <p:sp>
        <p:nvSpPr>
          <p:cNvPr id="4" name="Text 0"/>
          <p:cNvSpPr/>
          <p:nvPr/>
        </p:nvSpPr>
        <p:spPr>
          <a:xfrm>
            <a:off x="3749040" y="3474720"/>
            <a:ext cx="1645920" cy="365760"/>
          </a:xfrm>
          <a:prstGeom prst="roundRect">
            <a:avLst>
              <a:gd name="adj" fmla="val 12500"/>
            </a:avLst>
          </a:prstGeom>
          <a:ln w="19050">
            <a:solidFill>
              <a:srgbClr val="5A5A5A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3749040" y="3474720"/>
            <a:ext cx="16459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100" b="1" dirty="0">
                <a:solidFill>
                  <a:srgbClr val="F2F2F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b="1" dirty="0">
                <a:solidFill>
                  <a:srgbClr val="F2F2F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Restore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ECE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82296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8328" y="82296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2880" y="237744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8328" y="237744"/>
            <a:ext cx="128016" cy="128016"/>
          </a:xfrm>
          <a:prstGeom prst="roundRect">
            <a:avLst>
              <a:gd name="adj" fmla="val 17857"/>
            </a:avLst>
          </a:prstGeom>
          <a:solidFill>
            <a:schemeClr val="bg1">
              <a:alpha val="6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83880" y="178308"/>
            <a:ext cx="100584" cy="100584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76200" dist="50800" dir="5400000">
              <a:srgbClr val="99E600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/>
          <p:nvPr>
            <p:ph idx="108" type="title" hasCustomPrompt="1"/>
          </p:nvPr>
        </p:nvSpPr>
        <p:spPr>
          <a:xfrm>
            <a:off x="1463040" y="1143000"/>
            <a:ext cx="6217920" cy="123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chemeClr val="tx2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gooey</a:t>
            </a:r>
            <a:endParaRPr lang="en-US" sz="4800" dirty="0"/>
          </a:p>
        </p:txBody>
      </p:sp>
      <p:sp>
        <p:nvSpPr>
          <p:cNvPr id="3" name="Text 7"/>
          <p:cNvSpPr/>
          <p:nvPr>
            <p:ph idx="109" type="body" hasCustomPrompt="1"/>
          </p:nvPr>
        </p:nvSpPr>
        <p:spPr>
          <a:xfrm>
            <a:off x="1463040" y="2468880"/>
            <a:ext cx="62179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annieData control center for TheaterGWD</a:t>
            </a:r>
            <a:endParaRPr lang="en-US" sz="1500" dirty="0"/>
          </a:p>
        </p:txBody>
      </p:sp>
      <p:sp>
        <p:nvSpPr>
          <p:cNvPr id="4" name="Text 8"/>
          <p:cNvSpPr/>
          <p:nvPr>
            <p:ph idx="111" type="body" hasCustomPrompt="1"/>
          </p:nvPr>
        </p:nvSpPr>
        <p:spPr>
          <a:xfrm>
            <a:off x="1463040" y="31546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Tech week · Oct 2026</a:t>
            </a:r>
            <a:endParaRPr lang="en-US" sz="1100" dirty="0"/>
          </a:p>
        </p:txBody>
      </p:sp>
      <p:sp>
        <p:nvSpPr>
          <p:cNvPr id="5" name="Text 9"/>
          <p:cNvSpPr/>
          <p:nvPr>
            <p:ph idx="113" type="body" hasCustomPrompt="1"/>
          </p:nvPr>
        </p:nvSpPr>
        <p:spPr>
          <a:xfrm>
            <a:off x="27432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748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3 devices · 24 messages · 6 scenes</a:t>
            </a:r>
            <a:endParaRPr lang="en-US" sz="900" dirty="0"/>
          </a:p>
        </p:txBody>
      </p:sp>
      <p:sp>
        <p:nvSpPr>
          <p:cNvPr id="6" name="Text 9"/>
          <p:cNvSpPr/>
          <p:nvPr>
            <p:ph idx="114" type="body" hasCustomPrompt="1"/>
          </p:nvPr>
        </p:nvSpPr>
        <p:spPr>
          <a:xfrm>
            <a:off x="4754880" y="4846320"/>
            <a:ext cx="41148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E748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listening on :9000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731520" y="1234440"/>
            <a:ext cx="3657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02 /</a:t>
            </a:r>
            <a:endParaRPr lang="en-US" sz="16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731520" y="1737360"/>
            <a:ext cx="768096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tx2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Messages &amp; Scenes</a:t>
            </a:r>
            <a:endParaRPr lang="en-US" sz="4000" dirty="0"/>
          </a:p>
        </p:txBody>
      </p:sp>
      <p:sp>
        <p:nvSpPr>
          <p:cNvPr id="4" name="Text 5"/>
          <p:cNvSpPr/>
          <p:nvPr>
            <p:ph idx="107" type="body" hasCustomPrompt="1"/>
          </p:nvPr>
        </p:nvSpPr>
        <p:spPr>
          <a:xfrm>
            <a:off x="731520" y="3154680"/>
            <a:ext cx="64008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How a sensor reading becomes a lighting cue.</a:t>
            </a:r>
            <a:endParaRPr lang="en-US" sz="1300" dirty="0"/>
          </a:p>
        </p:txBody>
      </p:sp>
      <p:sp>
        <p:nvSpPr>
          <p:cNvPr id="5" name="Text 7"/>
          <p:cNvSpPr/>
          <p:nvPr>
            <p:ph idx="110" type="body" hasCustomPrompt="1"/>
          </p:nvPr>
        </p:nvSpPr>
        <p:spPr>
          <a:xfrm>
            <a:off x="7040880" y="6858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SCENE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" name="Text 8"/>
          <p:cNvSpPr/>
          <p:nvPr>
            <p:ph idx="109" type="title" hasCustomPrompt="1"/>
          </p:nvPr>
        </p:nvSpPr>
        <p:spPr>
          <a:xfrm>
            <a:off x="685800" y="822960"/>
            <a:ext cx="77724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Why rebuild annieOSC?</a:t>
            </a:r>
            <a:endParaRPr lang="en-US" sz="2200" dirty="0"/>
          </a:p>
        </p:txBody>
      </p:sp>
      <p:sp>
        <p:nvSpPr>
          <p:cNvPr id="4" name="Text 9"/>
          <p:cNvSpPr/>
          <p:nvPr>
            <p:ph idx="111" type="body" hasCustomPrompt="1"/>
          </p:nvPr>
        </p:nvSpPr>
        <p:spPr>
          <a:xfrm>
            <a:off x="685800" y="1600200"/>
            <a:ext cx="7772400" cy="3017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177800" indent="-1778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Config payloads now travel as one argument, not split on spaces</a:t>
            </a:r>
            <a:endParaRPr lang="en-US" sz="1300" dirty="0"/>
          </a:p>
          <a:p>
            <a:pPr algn="l" marL="177800" indent="-1778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The reply feed is always visible instead of buried under a tab</a:t>
            </a:r>
            <a:endParaRPr lang="en-US" sz="1300" dirty="0"/>
          </a:p>
          <a:p>
            <a:pPr algn="l" marL="177800" indent="-1778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Every TheaterGWD command has a form: clone, rename, move, solo</a:t>
            </a:r>
            <a:endParaRPr lang="en-US" sz="1300" dirty="0"/>
          </a:p>
          <a:p>
            <a:pPr algn="l" marL="177800" indent="-1778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Built for theater operators, not as a generic OSC tool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Layout</a:t>
            </a:r>
            <a:endParaRPr lang="en-US" sz="10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411480" y="685800"/>
            <a:ext cx="45262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Send, then see</a:t>
            </a:r>
            <a:endParaRPr lang="en-US" sz="2200" dirty="0"/>
          </a:p>
        </p:txBody>
      </p:sp>
      <p:sp>
        <p:nvSpPr>
          <p:cNvPr id="4" name="Text 8"/>
          <p:cNvSpPr/>
          <p:nvPr>
            <p:ph idx="110" type="body" hasCustomPrompt="1"/>
          </p:nvPr>
        </p:nvSpPr>
        <p:spPr>
          <a:xfrm>
            <a:off x="411480" y="1463040"/>
            <a:ext cx="452628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177800" indent="-1778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Controls on the left: messages, scenes, direct sends</a:t>
            </a:r>
            <a:endParaRPr lang="en-US" sz="1300" dirty="0"/>
          </a:p>
          <a:p>
            <a:pPr algn="l" marL="177800" indent="-1778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Replies stream in on the right as they happen</a:t>
            </a:r>
            <a:endParaRPr lang="en-US" sz="1300" dirty="0"/>
          </a:p>
          <a:p>
            <a:pPr algn="l" marL="177800" indent="-177800">
              <a:lnSpc>
                <a:spcPct val="13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Operators confirm a cue without switching tabs</a:t>
            </a:r>
            <a:endParaRPr lang="en-US" sz="1300" dirty="0"/>
          </a:p>
        </p:txBody>
      </p:sp>
      <p:sp>
        <p:nvSpPr>
          <p:cNvPr id="5" name="Text 10"/>
          <p:cNvSpPr/>
          <p:nvPr>
            <p:ph idx="113" type="body" hasCustomPrompt="1"/>
          </p:nvPr>
        </p:nvSpPr>
        <p:spPr>
          <a:xfrm>
            <a:off x="5367528" y="566928"/>
            <a:ext cx="237744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Live Feed</a:t>
            </a:r>
            <a:endParaRPr lang="en-US" sz="1600" dirty="0"/>
          </a:p>
        </p:txBody>
      </p:sp>
      <p:sp>
        <p:nvSpPr>
          <p:cNvPr id="6" name="Text 11"/>
          <p:cNvSpPr/>
          <p:nvPr>
            <p:ph idx="115" type="body" hasCustomPrompt="1"/>
          </p:nvPr>
        </p:nvSpPr>
        <p:spPr>
          <a:xfrm>
            <a:off x="5367528" y="1170432"/>
            <a:ext cx="3611880" cy="3474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6E748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19:57:30  </a:t>
            </a:r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3E944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RECV</a:t>
            </a:r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 /gyro/x 0.0206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6E748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19:57:31  </a:t>
            </a:r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2A34D5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SEND</a:t>
            </a:r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 /scene/act2/start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6E748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19:57:31  </a:t>
            </a:r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3E944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RECV</a:t>
            </a:r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 /status act2 run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6E748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19:57:32  </a:t>
            </a:r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8B6914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BRDG</a:t>
            </a:r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 /qlab/go 14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800" dirty="0">
                <a:solidFill>
                  <a:srgbClr val="6E748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19:57:33  </a:t>
            </a:r>
            <a:pPr algn="l" indent="0" marL="0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3E944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RECV</a:t>
            </a:r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  /accel/y -0.002</a:t>
            </a:r>
            <a:endParaRPr lang="en-US" sz="1000" dirty="0"/>
          </a:p>
        </p:txBody>
      </p:sp>
      <p:sp>
        <p:nvSpPr>
          <p:cNvPr id="7" name="Text 12"/>
          <p:cNvSpPr/>
          <p:nvPr>
            <p:ph idx="117" type="body" hasCustomPrompt="1"/>
          </p:nvPr>
        </p:nvSpPr>
        <p:spPr>
          <a:xfrm>
            <a:off x="5367528" y="4882896"/>
            <a:ext cx="361188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E748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5 messages · 2.1 msg/s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Before / After</a:t>
            </a:r>
            <a:endParaRPr lang="en-US" sz="10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From generic tool to control center</a:t>
            </a:r>
            <a:endParaRPr lang="en-US" sz="2400" dirty="0"/>
          </a:p>
        </p:txBody>
      </p:sp>
      <p:sp>
        <p:nvSpPr>
          <p:cNvPr id="4" name="Text 8"/>
          <p:cNvSpPr/>
          <p:nvPr>
            <p:ph idx="110" type="body" hasCustomPrompt="1"/>
          </p:nvPr>
        </p:nvSpPr>
        <p:spPr>
          <a:xfrm>
            <a:off x="640080" y="1298448"/>
            <a:ext cx="3611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annieOSC</a:t>
            </a:r>
            <a:endParaRPr lang="en-US" sz="1700" dirty="0"/>
          </a:p>
        </p:txBody>
      </p:sp>
      <p:sp>
        <p:nvSpPr>
          <p:cNvPr id="5" name="Text 9"/>
          <p:cNvSpPr/>
          <p:nvPr>
            <p:ph idx="112" type="body" hasCustomPrompt="1"/>
          </p:nvPr>
        </p:nvSpPr>
        <p:spPr>
          <a:xfrm>
            <a:off x="640080" y="2011680"/>
            <a:ext cx="36118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17A9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BEFORE</a:t>
            </a:r>
            <a:endParaRPr lang="en-US" sz="900" dirty="0"/>
          </a:p>
        </p:txBody>
      </p:sp>
      <p:sp>
        <p:nvSpPr>
          <p:cNvPr id="6" name="Text 9"/>
          <p:cNvSpPr/>
          <p:nvPr>
            <p:ph idx="113" type="body" hasCustomPrompt="1"/>
          </p:nvPr>
        </p:nvSpPr>
        <p:spPr>
          <a:xfrm>
            <a:off x="640080" y="2286000"/>
            <a:ext cx="3611880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177800" indent="-1778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Tabs hide the feed</a:t>
            </a:r>
            <a:endParaRPr lang="en-US" sz="1200" dirty="0"/>
          </a:p>
          <a:p>
            <a:pPr algn="l" marL="177800" indent="-1778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Status config sends nothing</a:t>
            </a:r>
            <a:endParaRPr lang="en-US" sz="1200" dirty="0"/>
          </a:p>
          <a:p>
            <a:pPr algn="l" marL="177800" indent="-1778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Clone &amp; rename by hand</a:t>
            </a:r>
            <a:endParaRPr lang="en-US" sz="1200" dirty="0"/>
          </a:p>
        </p:txBody>
      </p:sp>
      <p:sp>
        <p:nvSpPr>
          <p:cNvPr id="7" name="Text 10"/>
          <p:cNvSpPr/>
          <p:nvPr>
            <p:ph idx="115" type="body" hasCustomPrompt="1"/>
          </p:nvPr>
        </p:nvSpPr>
        <p:spPr>
          <a:xfrm>
            <a:off x="4892040" y="1298448"/>
            <a:ext cx="36118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gooey</a:t>
            </a:r>
            <a:endParaRPr lang="en-US" sz="1700" dirty="0"/>
          </a:p>
        </p:txBody>
      </p:sp>
      <p:sp>
        <p:nvSpPr>
          <p:cNvPr id="8" name="Text 11"/>
          <p:cNvSpPr/>
          <p:nvPr>
            <p:ph idx="117" type="body" hasCustomPrompt="1"/>
          </p:nvPr>
        </p:nvSpPr>
        <p:spPr>
          <a:xfrm>
            <a:off x="4892040" y="2011680"/>
            <a:ext cx="36118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17A9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AFTER</a:t>
            </a:r>
            <a:endParaRPr lang="en-US" sz="900" dirty="0"/>
          </a:p>
        </p:txBody>
      </p:sp>
      <p:sp>
        <p:nvSpPr>
          <p:cNvPr id="9" name="Text 11"/>
          <p:cNvSpPr/>
          <p:nvPr>
            <p:ph idx="118" type="body" hasCustomPrompt="1"/>
          </p:nvPr>
        </p:nvSpPr>
        <p:spPr>
          <a:xfrm>
            <a:off x="4892040" y="2286000"/>
            <a:ext cx="3611880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marL="177800" indent="-1778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Split panel, feed always on</a:t>
            </a:r>
            <a:endParaRPr lang="en-US" sz="1200" dirty="0"/>
          </a:p>
          <a:p>
            <a:pPr algn="l" marL="177800" indent="-1778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Proper status config form</a:t>
            </a:r>
            <a:endParaRPr lang="en-US" sz="1200" dirty="0"/>
          </a:p>
          <a:p>
            <a:pPr algn="l" marL="177800" indent="-177800">
              <a:lnSpc>
                <a:spcPct val="135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Dedicated clone/rename forms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3" name="Text 7"/>
          <p:cNvSpPr/>
          <p:nvPr>
            <p:ph idx="108" type="title" hasCustomPrompt="1"/>
          </p:nvPr>
        </p:nvSpPr>
        <p:spPr>
          <a:xfrm>
            <a:off x="411480" y="566928"/>
            <a:ext cx="83210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One show, at a glance</a:t>
            </a:r>
            <a:endParaRPr lang="en-US" sz="2400" dirty="0"/>
          </a:p>
        </p:txBody>
      </p:sp>
      <p:sp>
        <p:nvSpPr>
          <p:cNvPr id="4" name="Text 9"/>
          <p:cNvSpPr/>
          <p:nvPr>
            <p:ph idx="111" type="body" hasCustomPrompt="1"/>
          </p:nvPr>
        </p:nvSpPr>
        <p:spPr>
          <a:xfrm>
            <a:off x="640080" y="1417320"/>
            <a:ext cx="21031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17A9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LISTEN PORT</a:t>
            </a:r>
            <a:endParaRPr lang="en-US" sz="900" dirty="0"/>
          </a:p>
        </p:txBody>
      </p:sp>
      <p:sp>
        <p:nvSpPr>
          <p:cNvPr id="5" name="Text 9"/>
          <p:cNvSpPr/>
          <p:nvPr>
            <p:ph idx="112" type="body" hasCustomPrompt="1"/>
          </p:nvPr>
        </p:nvSpPr>
        <p:spPr>
          <a:xfrm>
            <a:off x="640080" y="1783080"/>
            <a:ext cx="2377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9000</a:t>
            </a:r>
            <a:endParaRPr lang="en-US" sz="3600" dirty="0"/>
          </a:p>
        </p:txBody>
      </p:sp>
      <p:sp>
        <p:nvSpPr>
          <p:cNvPr id="6" name="Text 10"/>
          <p:cNvSpPr/>
          <p:nvPr>
            <p:ph idx="114" type="body" hasCustomPrompt="1"/>
          </p:nvPr>
        </p:nvSpPr>
        <p:spPr>
          <a:xfrm>
            <a:off x="640080" y="2926080"/>
            <a:ext cx="2331720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Where devices send their replies</a:t>
            </a:r>
            <a:endParaRPr lang="en-US" sz="1100" dirty="0"/>
          </a:p>
        </p:txBody>
      </p:sp>
      <p:sp>
        <p:nvSpPr>
          <p:cNvPr id="7" name="Text 12"/>
          <p:cNvSpPr/>
          <p:nvPr>
            <p:ph idx="117" type="body" hasCustomPrompt="1"/>
          </p:nvPr>
        </p:nvSpPr>
        <p:spPr>
          <a:xfrm>
            <a:off x="3429000" y="1417320"/>
            <a:ext cx="21031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17A9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DEVICES</a:t>
            </a:r>
            <a:endParaRPr lang="en-US" sz="900" dirty="0"/>
          </a:p>
        </p:txBody>
      </p:sp>
      <p:sp>
        <p:nvSpPr>
          <p:cNvPr id="8" name="Text 12"/>
          <p:cNvSpPr/>
          <p:nvPr>
            <p:ph idx="118" type="body" hasCustomPrompt="1"/>
          </p:nvPr>
        </p:nvSpPr>
        <p:spPr>
          <a:xfrm>
            <a:off x="3429000" y="1783080"/>
            <a:ext cx="2377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3</a:t>
            </a:r>
            <a:endParaRPr lang="en-US" sz="3600" dirty="0"/>
          </a:p>
        </p:txBody>
      </p:sp>
      <p:sp>
        <p:nvSpPr>
          <p:cNvPr id="9" name="Text 13"/>
          <p:cNvSpPr/>
          <p:nvPr>
            <p:ph idx="120" type="body" hasCustomPrompt="1"/>
          </p:nvPr>
        </p:nvSpPr>
        <p:spPr>
          <a:xfrm>
            <a:off x="3429000" y="2926080"/>
            <a:ext cx="2331720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Costume packs on the show network</a:t>
            </a:r>
            <a:endParaRPr lang="en-US" sz="1100" dirty="0"/>
          </a:p>
        </p:txBody>
      </p:sp>
      <p:sp>
        <p:nvSpPr>
          <p:cNvPr id="10" name="Text 15"/>
          <p:cNvSpPr/>
          <p:nvPr>
            <p:ph idx="123" type="body" hasCustomPrompt="1"/>
          </p:nvPr>
        </p:nvSpPr>
        <p:spPr>
          <a:xfrm>
            <a:off x="6217920" y="1417320"/>
            <a:ext cx="21031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17A9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SCENES</a:t>
            </a:r>
            <a:endParaRPr lang="en-US" sz="900" dirty="0"/>
          </a:p>
        </p:txBody>
      </p:sp>
      <p:sp>
        <p:nvSpPr>
          <p:cNvPr id="11" name="Text 15"/>
          <p:cNvSpPr/>
          <p:nvPr>
            <p:ph idx="124" type="body" hasCustomPrompt="1"/>
          </p:nvPr>
        </p:nvSpPr>
        <p:spPr>
          <a:xfrm>
            <a:off x="6217920" y="1783080"/>
            <a:ext cx="2377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6</a:t>
            </a:r>
            <a:endParaRPr lang="en-US" sz="3600" dirty="0"/>
          </a:p>
        </p:txBody>
      </p:sp>
      <p:sp>
        <p:nvSpPr>
          <p:cNvPr id="12" name="Text 16"/>
          <p:cNvSpPr/>
          <p:nvPr>
            <p:ph idx="126" type="body" hasCustomPrompt="1"/>
          </p:nvPr>
        </p:nvSpPr>
        <p:spPr>
          <a:xfrm>
            <a:off x="6217920" y="2926080"/>
            <a:ext cx="2331720" cy="1691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Grouped messages, started per cue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Scripting</a:t>
            </a:r>
            <a:endParaRPr lang="en-US" sz="1000" dirty="0"/>
          </a:p>
        </p:txBody>
      </p:sp>
      <p:sp>
        <p:nvSpPr>
          <p:cNvPr id="3" name="Text 9"/>
          <p:cNvSpPr/>
          <p:nvPr>
            <p:ph idx="110" type="title" hasCustomPrompt="1"/>
          </p:nvPr>
        </p:nvSpPr>
        <p:spPr>
          <a:xfrm>
            <a:off x="640080" y="749808"/>
            <a:ext cx="54864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8DEE8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Script console</a:t>
            </a:r>
            <a:endParaRPr lang="en-US" sz="1500" dirty="0"/>
          </a:p>
        </p:txBody>
      </p:sp>
      <p:sp>
        <p:nvSpPr>
          <p:cNvPr id="4" name="Text 10"/>
          <p:cNvSpPr/>
          <p:nvPr>
            <p:ph idx="112" type="body" hasCustomPrompt="1"/>
          </p:nvPr>
        </p:nvSpPr>
        <p:spPr>
          <a:xfrm>
            <a:off x="685800" y="1371600"/>
            <a:ext cx="777240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CAF5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&gt;&gt;&gt; </a:t>
            </a:r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D8DEE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dev = device("costume-1")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CAF5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&gt;&gt;&gt; </a:t>
            </a:r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D8DEE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dev.msg("accelX").enable()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C809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RECV /status/accelX enabled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CAF5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&gt;&gt;&gt; </a:t>
            </a:r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D8DEE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dev.scene("act2").start()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C809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RECV /status/scene act2 running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4CAF5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&gt;&gt;&gt; </a:t>
            </a:r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D8DEE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scenes()</a:t>
            </a:r>
            <a:endParaRPr lang="en-US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7C8090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{'act2': {'period': 50, ...}}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In the room</a:t>
            </a:r>
            <a:endParaRPr lang="en-US" sz="1000" dirty="0"/>
          </a:p>
        </p:txBody>
      </p:sp>
      <p:pic>
        <p:nvPicPr>
          <p:cNvPr id="3" name="Image 0" descr="/home/user/Annabel_Portfolio/_slide-themes/.cache/photos/gooey.jpg">    </p:cNvPr>
          <p:cNvPicPr>
            <a:picLocks noChangeAspect="1"/>
          </p:cNvPicPr>
          <p:nvPr>
            <p:ph idx="109" hasCustomPrompt="1"/>
          </p:nvPr>
        </p:nvPicPr>
        <p:blipFill>
          <a:blip r:embed="rId1"/>
          <a:srcRect l="0" r="0" t="0" b="0"/>
          <a:stretch/>
        </p:blipFill>
        <p:spPr>
          <a:xfrm>
            <a:off x="411480" y="731520"/>
            <a:ext cx="4572000" cy="4114800"/>
          </a:xfrm>
          <a:prstGeom prst="rect">
            <a:avLst/>
          </a:prstGeom>
        </p:spPr>
      </p:pic>
      <p:sp>
        <p:nvSpPr>
          <p:cNvPr id="4" name="Text 9"/>
          <p:cNvSpPr/>
          <p:nvPr>
            <p:ph idx="111" type="title" hasCustomPrompt="1"/>
          </p:nvPr>
        </p:nvSpPr>
        <p:spPr>
          <a:xfrm>
            <a:off x="5440680" y="822960"/>
            <a:ext cx="31089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Running the booth</a:t>
            </a:r>
            <a:endParaRPr lang="en-US" sz="2000" dirty="0"/>
          </a:p>
        </p:txBody>
      </p:sp>
      <p:sp>
        <p:nvSpPr>
          <p:cNvPr id="5" name="Text 10"/>
          <p:cNvSpPr/>
          <p:nvPr>
            <p:ph idx="113" type="body" hasCustomPrompt="1"/>
          </p:nvPr>
        </p:nvSpPr>
        <p:spPr>
          <a:xfrm>
            <a:off x="5440680" y="1600200"/>
            <a:ext cx="31089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917A98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TECH REHEARSAL</a:t>
            </a:r>
            <a:endParaRPr lang="en-US" sz="900" dirty="0"/>
          </a:p>
        </p:txBody>
      </p:sp>
      <p:sp>
        <p:nvSpPr>
          <p:cNvPr id="6" name="Text 10"/>
          <p:cNvSpPr/>
          <p:nvPr>
            <p:ph idx="114" type="body" hasCustomPrompt="1"/>
          </p:nvPr>
        </p:nvSpPr>
        <p:spPr>
          <a:xfrm>
            <a:off x="5440680" y="1874520"/>
            <a:ext cx="3108960" cy="2788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The operator watches the stage, not the laptop. Status dots and the feed answer “did that cue land?” at a glance.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body" hasCustomPrompt="1"/>
          </p:nvPr>
        </p:nvSpPr>
        <p:spPr>
          <a:xfrm>
            <a:off x="640080" y="91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Onboarding</a:t>
            </a:r>
            <a:endParaRPr lang="en-US" sz="1000" dirty="0"/>
          </a:p>
        </p:txBody>
      </p:sp>
      <p:sp>
        <p:nvSpPr>
          <p:cNvPr id="3" name="Text 8"/>
          <p:cNvSpPr/>
          <p:nvPr>
            <p:ph idx="110" type="title" hasCustomPrompt="1"/>
          </p:nvPr>
        </p:nvSpPr>
        <p:spPr>
          <a:xfrm>
            <a:off x="777240" y="960120"/>
            <a:ext cx="75895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Welcome to annieData</a:t>
            </a:r>
            <a:endParaRPr lang="en-US" sz="2200" dirty="0"/>
          </a:p>
        </p:txBody>
      </p:sp>
      <p:sp>
        <p:nvSpPr>
          <p:cNvPr id="4" name="Text 9"/>
          <p:cNvSpPr/>
          <p:nvPr>
            <p:ph idx="112" type="body" hasCustomPrompt="1"/>
          </p:nvPr>
        </p:nvSpPr>
        <p:spPr>
          <a:xfrm>
            <a:off x="1280160" y="1783080"/>
            <a:ext cx="704088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Add a device using the + button above</a:t>
            </a:r>
            <a:endParaRPr lang="en-US" sz="1400" dirty="0"/>
          </a:p>
        </p:txBody>
      </p:sp>
      <p:sp>
        <p:nvSpPr>
          <p:cNvPr id="5" name="Text 10"/>
          <p:cNvSpPr/>
          <p:nvPr>
            <p:ph idx="114" type="body" hasCustomPrompt="1"/>
          </p:nvPr>
        </p:nvSpPr>
        <p:spPr>
          <a:xfrm>
            <a:off x="1280160" y="2423160"/>
            <a:ext cx="704088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Click its tab and choose Query to load its config</a:t>
            </a:r>
            <a:endParaRPr lang="en-US" sz="1400" dirty="0"/>
          </a:p>
        </p:txBody>
      </p:sp>
      <p:sp>
        <p:nvSpPr>
          <p:cNvPr id="6" name="Text 11"/>
          <p:cNvSpPr/>
          <p:nvPr>
            <p:ph idx="116" type="body" hasCustomPrompt="1"/>
          </p:nvPr>
        </p:nvSpPr>
        <p:spPr>
          <a:xfrm>
            <a:off x="1280160" y="3063240"/>
            <a:ext cx="704088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Create messages and scenes to start sending OSC</a:t>
            </a:r>
            <a:endParaRPr lang="en-US" sz="1400" dirty="0"/>
          </a:p>
        </p:txBody>
      </p:sp>
      <p:sp>
        <p:nvSpPr>
          <p:cNvPr id="7" name="Text 12"/>
          <p:cNvSpPr/>
          <p:nvPr>
            <p:ph idx="118" type="body" hasCustomPrompt="1"/>
          </p:nvPr>
        </p:nvSpPr>
        <p:spPr>
          <a:xfrm>
            <a:off x="777240" y="39319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Take a tour!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body" hasCustomPrompt="1"/>
          </p:nvPr>
        </p:nvSpPr>
        <p:spPr>
          <a:xfrm>
            <a:off x="822960" y="1005840"/>
            <a:ext cx="7498080" cy="2377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chemeClr val="tx1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Controls on the left. The feed is always visible.</a:t>
            </a:r>
            <a:endParaRPr lang="en-US" sz="2400" dirty="0"/>
          </a:p>
        </p:txBody>
      </p:sp>
      <p:sp>
        <p:nvSpPr>
          <p:cNvPr id="3" name="Text 6"/>
          <p:cNvSpPr/>
          <p:nvPr>
            <p:ph idx="107" type="body" hasCustomPrompt="1"/>
          </p:nvPr>
        </p:nvSpPr>
        <p:spPr>
          <a:xfrm>
            <a:off x="822960" y="3703320"/>
            <a:ext cx="7498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Playwrite DE Grund" pitchFamily="34" charset="0"/>
                <a:ea typeface="Playwrite DE Grund" pitchFamily="34" charset="-122"/>
                <a:cs typeface="Playwrite DE Grund" pitchFamily="34" charset="-120"/>
              </a:rPr>
              <a:t>— the split-panel rule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39328" y="11887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Martian Mono"/>
                <a:ea typeface="Martian Mono"/>
                <a:cs typeface="Martian Mono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F2F2F2"/>
                </a:solidFill>
                <a:latin typeface="Playwrite IE" pitchFamily="34" charset="0"/>
                <a:ea typeface="Playwrite IE" pitchFamily="34" charset="-122"/>
                <a:cs typeface="Playwrite IE" pitchFamily="34" charset="-120"/>
              </a:rPr>
              <a:t>thanks!</a:t>
            </a: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9AA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questions? the feed is open</a:t>
            </a:r>
            <a:endParaRPr lang="en-US" sz="12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3749040" y="3474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F2F2"/>
                </a:solidFill>
                <a:latin typeface="Martian Mono" pitchFamily="34" charset="0"/>
                <a:ea typeface="Martian Mono" pitchFamily="34" charset="-122"/>
                <a:cs typeface="Martian Mono" pitchFamily="34" charset="-120"/>
              </a:rPr>
              <a:t>Restore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oey (light)">
  <a:themeElements>
    <a:clrScheme name="gooey (light)">
      <a:dk1>
        <a:srgbClr val="1A273A"/>
      </a:dk1>
      <a:lt1>
        <a:srgbClr val="ECE8FD"/>
      </a:lt1>
      <a:dk2>
        <a:srgbClr val="543155"/>
      </a:dk2>
      <a:lt2>
        <a:srgbClr val="DCD4FE"/>
      </a:lt2>
      <a:accent1>
        <a:srgbClr val="543155"/>
      </a:accent1>
      <a:accent2>
        <a:srgbClr val="FF9FA0"/>
      </a:accent2>
      <a:accent3>
        <a:srgbClr val="99E600"/>
      </a:accent3>
      <a:accent4>
        <a:srgbClr val="FCB700"/>
      </a:accent4>
      <a:accent5>
        <a:srgbClr val="C5005A"/>
      </a:accent5>
      <a:accent6>
        <a:srgbClr val="C4B3FF"/>
      </a:accent6>
      <a:hlink>
        <a:srgbClr val="543155"/>
      </a:hlink>
      <a:folHlink>
        <a:srgbClr val="917A98"/>
      </a:folHlink>
    </a:clrScheme>
    <a:fontScheme name="gooey (light)">
      <a:majorFont>
        <a:latin typeface="Playwrite DE Gru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rtian Mon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gooey (light)</dc:title>
  <dc:subject>PptxGenJS Presentation</dc:subject>
  <dc:creator>Annabel Lee</dc:creator>
  <cp:lastModifiedBy>Annabel Lee</cp:lastModifiedBy>
  <cp:revision>1</cp:revision>
  <dcterms:created xsi:type="dcterms:W3CDTF">2026-10-23T20:15:06Z</dcterms:created>
  <dcterms:modified xsi:type="dcterms:W3CDTF">2026-10-23T20:15:06Z</dcterms:modified>
</cp:coreProperties>
</file>